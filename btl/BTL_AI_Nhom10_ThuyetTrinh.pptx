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65760" cy="6858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914400"/>
            <a:ext cx="10058400" cy="5029200"/>
          </a:xfrm>
          <a:prstGeom prst="rect">
            <a:avLst/>
          </a:prstGeom>
          <a:noFill/>
        </p:spPr>
        <p:txBody>
          <a:bodyPr wrap="square">
            <a:spAutoFit/>
          </a:bodyPr>
          <a:lstStyle/>
          <a:p>
            <a:pPr>
              <a:defRPr sz="1200" b="1">
                <a:solidFill>
                  <a:srgbClr val="2563EB"/>
                </a:solidFill>
                <a:latin typeface="Segoe UI"/>
              </a:defRPr>
            </a:pPr>
            <a:r>
              <a:t>TRƯỜNG ĐẠI HỌC CÔNG NGHỆ ĐÔNG Á  •  KHOA CÔNG NGHỆ THÔNG TIN</a:t>
            </a:r>
          </a:p>
          <a:p>
            <a:pPr>
              <a:spcBef>
                <a:spcPts val="600"/>
              </a:spcBef>
              <a:defRPr sz="1100">
                <a:solidFill>
                  <a:srgbClr val="475569"/>
                </a:solidFill>
                <a:latin typeface="Segoe UI"/>
              </a:defRPr>
            </a:pPr>
            <a:r>
              <a:t>BÁO CÁO BÀI TẬP LỚN MÔN TRÍ TUỆ NHÂN TẠO  |  MÃ ĐỀ SỐ 02</a:t>
            </a:r>
          </a:p>
          <a:p>
            <a:pPr>
              <a:spcBef>
                <a:spcPts val="1800"/>
              </a:spcBef>
              <a:defRPr sz="3200" b="1">
                <a:solidFill>
                  <a:srgbClr val="1E3A8A"/>
                </a:solidFill>
                <a:latin typeface="Segoe UI"/>
              </a:defRPr>
            </a:pPr>
            <a:r>
              <a:t>XÂY DỰNG MÔ PHỎNG TRÒ CHƠI</a:t>
            </a:r>
            <a:br/>
            <a:r>
              <a:t>TÌM ĐƯỜNG TRONG MÊ CUNG</a:t>
            </a:r>
          </a:p>
          <a:p>
            <a:pPr>
              <a:spcBef>
                <a:spcPts val="1000"/>
              </a:spcBef>
              <a:defRPr sz="1600" b="1">
                <a:solidFill>
                  <a:srgbClr val="2563EB"/>
                </a:solidFill>
                <a:latin typeface="Segoe UI"/>
              </a:defRPr>
            </a:pPr>
            <a:r>
              <a:t>Nghiên Cứu Lý Thuyết &amp; Đối Sánh Thực Nghiệm Ba Thuật Toán: BFS • DFS • A*</a:t>
            </a:r>
          </a:p>
        </p:txBody>
      </p:sp>
      <p:sp>
        <p:nvSpPr>
          <p:cNvPr id="4" name="Rectangle 3"/>
          <p:cNvSpPr/>
          <p:nvPr/>
        </p:nvSpPr>
        <p:spPr>
          <a:xfrm>
            <a:off x="1097280" y="3931920"/>
            <a:ext cx="9601200"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4206240"/>
            <a:ext cx="9601200" cy="1828800"/>
          </a:xfrm>
          <a:prstGeom prst="rect">
            <a:avLst/>
          </a:prstGeom>
          <a:noFill/>
        </p:spPr>
        <p:txBody>
          <a:bodyPr wrap="square">
            <a:spAutoFit/>
          </a:bodyPr>
          <a:lstStyle/>
          <a:p>
            <a:r>
              <a:rPr b="1" sz="1300">
                <a:solidFill>
                  <a:srgbClr val="0F172A"/>
                </a:solidFill>
              </a:rPr>
              <a:t>Giảng viên hướng dẫn:  </a:t>
            </a:r>
            <a:r>
              <a:rPr b="1" sz="1500">
                <a:solidFill>
                  <a:srgbClr val="1E3A8A"/>
                </a:solidFill>
              </a:rPr>
              <a:t>ThS. Trần Xuân Thanh
</a:t>
            </a:r>
          </a:p>
          <a:p>
            <a:pPr>
              <a:spcBef>
                <a:spcPts val="800"/>
              </a:spcBef>
            </a:pPr>
            <a:r>
              <a:rPr b="1" sz="1300">
                <a:solidFill>
                  <a:srgbClr val="0F172A"/>
                </a:solidFill>
              </a:rPr>
              <a:t>Sinh viên thực hiện:      </a:t>
            </a:r>
            <a:r>
              <a:rPr b="1" sz="1500">
                <a:solidFill>
                  <a:srgbClr val="2563EB"/>
                </a:solidFill>
              </a:rPr>
              <a:t>NHÓM 10  —  Lớp Tín Chỉ Trí Tuệ Nhân Tạo
</a:t>
            </a:r>
          </a:p>
          <a:p>
            <a:pPr>
              <a:spcBef>
                <a:spcPts val="600"/>
              </a:spcBef>
              <a:defRPr sz="1100" i="1">
                <a:solidFill>
                  <a:srgbClr val="475569"/>
                </a:solidFill>
              </a:defRPr>
            </a:pPr>
            <a:r>
              <a:t>Sản phẩm thực nghiệm: Hệ thống mô phỏng đồ họa chạy song song đồng bộ 3 thuật toán 60 FPS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698480" cy="256032"/>
          </a:xfrm>
          <a:prstGeom prst="rect">
            <a:avLst/>
          </a:prstGeom>
          <a:noFill/>
        </p:spPr>
        <p:txBody>
          <a:bodyPr wrap="square" lIns="0" tIns="0" rIns="0" bIns="0">
            <a:spAutoFit/>
          </a:bodyPr>
          <a:lstStyle/>
          <a:p>
            <a:pPr>
              <a:defRPr sz="1000" b="1">
                <a:solidFill>
                  <a:srgbClr val="2563EB"/>
                </a:solidFill>
                <a:latin typeface="Segoe UI"/>
              </a:defRPr>
            </a:pPr>
            <a:r>
              <a:t>TỔNG QUAN NỘI DUNG</a:t>
            </a:r>
          </a:p>
        </p:txBody>
      </p:sp>
      <p:sp>
        <p:nvSpPr>
          <p:cNvPr id="3" name="TextBox 2"/>
          <p:cNvSpPr txBox="1"/>
          <p:nvPr/>
        </p:nvSpPr>
        <p:spPr>
          <a:xfrm>
            <a:off x="731520" y="621792"/>
            <a:ext cx="10698480" cy="502920"/>
          </a:xfrm>
          <a:prstGeom prst="rect">
            <a:avLst/>
          </a:prstGeom>
          <a:noFill/>
        </p:spPr>
        <p:txBody>
          <a:bodyPr wrap="square" lIns="0" tIns="0" rIns="0" bIns="0">
            <a:spAutoFit/>
          </a:bodyPr>
          <a:lstStyle/>
          <a:p>
            <a:pPr>
              <a:defRPr sz="2100" b="1">
                <a:solidFill>
                  <a:srgbClr val="1E3A8A"/>
                </a:solidFill>
                <a:latin typeface="Segoe UI"/>
              </a:defRPr>
            </a:pPr>
            <a:r>
              <a:t>Cấu Trúc Báo Cáo Thuyết Trình Đề Tài</a:t>
            </a:r>
          </a:p>
        </p:txBody>
      </p:sp>
      <p:sp>
        <p:nvSpPr>
          <p:cNvPr id="4" name="Rectangle 3"/>
          <p:cNvSpPr/>
          <p:nvPr/>
        </p:nvSpPr>
        <p:spPr>
          <a:xfrm>
            <a:off x="731520" y="1207008"/>
            <a:ext cx="1072865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280160"/>
            <a:ext cx="10698480" cy="274320"/>
          </a:xfrm>
          <a:prstGeom prst="rect">
            <a:avLst/>
          </a:prstGeom>
          <a:noFill/>
        </p:spPr>
        <p:txBody>
          <a:bodyPr wrap="square" lIns="0" tIns="0" rIns="0" bIns="0">
            <a:spAutoFit/>
          </a:bodyPr>
          <a:lstStyle/>
          <a:p>
            <a:pPr>
              <a:defRPr sz="1100" i="1">
                <a:solidFill>
                  <a:srgbClr val="475569"/>
                </a:solidFill>
                <a:latin typeface="Segoe UI"/>
              </a:defRPr>
            </a:pPr>
            <a:r>
              <a:t>Hành trình từ mô hình lý thuyết không gian trạng thái đến thực nghiệm đối sánh</a:t>
            </a:r>
          </a:p>
        </p:txBody>
      </p:sp>
      <p:sp>
        <p:nvSpPr>
          <p:cNvPr id="6" name="Rectangle 5"/>
          <p:cNvSpPr/>
          <p:nvPr/>
        </p:nvSpPr>
        <p:spPr>
          <a:xfrm>
            <a:off x="731520" y="1645920"/>
            <a:ext cx="2514600" cy="4480560"/>
          </a:xfrm>
          <a:prstGeom prst="rect">
            <a:avLst/>
          </a:prstGeom>
          <a:solidFill>
            <a:srgbClr val="F5F7FA"/>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45920"/>
            <a:ext cx="2514600" cy="73152"/>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28800"/>
            <a:ext cx="2148840" cy="4114800"/>
          </a:xfrm>
          <a:prstGeom prst="rect">
            <a:avLst/>
          </a:prstGeom>
          <a:noFill/>
        </p:spPr>
        <p:txBody>
          <a:bodyPr wrap="square">
            <a:spAutoFit/>
          </a:bodyPr>
          <a:lstStyle/>
          <a:p>
            <a:pPr>
              <a:defRPr sz="1100" b="1">
                <a:solidFill>
                  <a:srgbClr val="2563EB"/>
                </a:solidFill>
                <a:latin typeface="Segoe UI"/>
              </a:defRPr>
            </a:pPr>
            <a:r>
              <a:t>PHẦN 1</a:t>
            </a:r>
          </a:p>
          <a:p>
            <a:pPr>
              <a:spcBef>
                <a:spcPts val="600"/>
              </a:spcBef>
              <a:defRPr sz="1400" b="1">
                <a:solidFill>
                  <a:srgbClr val="1E3A8A"/>
                </a:solidFill>
                <a:latin typeface="Segoe UI"/>
              </a:defRPr>
            </a:pPr>
            <a:r>
              <a:t>Phát Biểu Bài Toán Tìm Đường</a:t>
            </a:r>
          </a:p>
          <a:p>
            <a:pPr>
              <a:spcBef>
                <a:spcPts val="1000"/>
              </a:spcBef>
            </a:pPr>
            <a:r>
              <a:rPr sz="1100" b="1">
                <a:solidFill>
                  <a:srgbClr val="0F172A"/>
                </a:solidFill>
                <a:latin typeface="Segoe UI"/>
              </a:rPr>
              <a:t>•   </a:t>
            </a:r>
            <a:r>
              <a:rPr sz="1100" b="0">
                <a:solidFill>
                  <a:srgbClr val="475569"/>
                </a:solidFill>
                <a:latin typeface="Segoe UI"/>
              </a:rPr>
              <a:t>Bản chất bài toán tìm kiếm 2D trong Trí tuệ nhân tạo</a:t>
            </a:r>
          </a:p>
          <a:p>
            <a:pPr>
              <a:spcBef>
                <a:spcPts val="1000"/>
              </a:spcBef>
            </a:pPr>
            <a:r>
              <a:rPr sz="1100" b="1">
                <a:solidFill>
                  <a:srgbClr val="0F172A"/>
                </a:solidFill>
                <a:latin typeface="Segoe UI"/>
              </a:rPr>
              <a:t>•   </a:t>
            </a:r>
            <a:r>
              <a:rPr sz="1100" b="0">
                <a:solidFill>
                  <a:srgbClr val="475569"/>
                </a:solidFill>
                <a:latin typeface="Segoe UI"/>
              </a:rPr>
              <a:t>Mô hình hóa Input, Output và các ràng buộc di chuyển</a:t>
            </a:r>
          </a:p>
          <a:p>
            <a:pPr>
              <a:spcBef>
                <a:spcPts val="1000"/>
              </a:spcBef>
            </a:pPr>
            <a:r>
              <a:rPr sz="1100" b="1">
                <a:solidFill>
                  <a:srgbClr val="0F172A"/>
                </a:solidFill>
                <a:latin typeface="Segoe UI"/>
              </a:rPr>
              <a:t>•   </a:t>
            </a:r>
            <a:r>
              <a:rPr sz="1100" b="0">
                <a:solidFill>
                  <a:srgbClr val="475569"/>
                </a:solidFill>
                <a:latin typeface="Segoe UI"/>
              </a:rPr>
              <a:t>Ý nghĩa thực tiễn: Bản đồ GPS, robot AGV, NPC Game</a:t>
            </a:r>
          </a:p>
        </p:txBody>
      </p:sp>
      <p:sp>
        <p:nvSpPr>
          <p:cNvPr id="9" name="Rectangle 8"/>
          <p:cNvSpPr/>
          <p:nvPr/>
        </p:nvSpPr>
        <p:spPr>
          <a:xfrm>
            <a:off x="3465576" y="1645920"/>
            <a:ext cx="2514600" cy="4480560"/>
          </a:xfrm>
          <a:prstGeom prst="rect">
            <a:avLst/>
          </a:prstGeom>
          <a:solidFill>
            <a:srgbClr val="F5F7FA"/>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465576" y="1645920"/>
            <a:ext cx="2514600"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48456" y="1828800"/>
            <a:ext cx="2148840" cy="4114800"/>
          </a:xfrm>
          <a:prstGeom prst="rect">
            <a:avLst/>
          </a:prstGeom>
          <a:noFill/>
        </p:spPr>
        <p:txBody>
          <a:bodyPr wrap="square">
            <a:spAutoFit/>
          </a:bodyPr>
          <a:lstStyle/>
          <a:p>
            <a:pPr>
              <a:defRPr sz="1100" b="1">
                <a:solidFill>
                  <a:srgbClr val="2563EB"/>
                </a:solidFill>
                <a:latin typeface="Segoe UI"/>
              </a:defRPr>
            </a:pPr>
            <a:r>
              <a:t>PHẦN 2</a:t>
            </a:r>
          </a:p>
          <a:p>
            <a:pPr>
              <a:spcBef>
                <a:spcPts val="600"/>
              </a:spcBef>
              <a:defRPr sz="1400" b="1">
                <a:solidFill>
                  <a:srgbClr val="1E3A8A"/>
                </a:solidFill>
                <a:latin typeface="Segoe UI"/>
              </a:defRPr>
            </a:pPr>
            <a:r>
              <a:t>Cơ Sở Lý Thuyết &amp; Thuật Toán</a:t>
            </a:r>
          </a:p>
          <a:p>
            <a:pPr>
              <a:spcBef>
                <a:spcPts val="1000"/>
              </a:spcBef>
            </a:pPr>
            <a:r>
              <a:rPr sz="1100" b="1">
                <a:solidFill>
                  <a:srgbClr val="0F172A"/>
                </a:solidFill>
                <a:latin typeface="Segoe UI"/>
              </a:rPr>
              <a:t>•   </a:t>
            </a:r>
            <a:r>
              <a:rPr sz="1100" b="0">
                <a:solidFill>
                  <a:srgbClr val="475569"/>
                </a:solidFill>
                <a:latin typeface="Segoe UI"/>
              </a:rPr>
              <a:t>Mô hình hóa 5 thành phần không gian trạng thái chuẩn AI</a:t>
            </a:r>
          </a:p>
          <a:p>
            <a:pPr>
              <a:spcBef>
                <a:spcPts val="1000"/>
              </a:spcBef>
            </a:pPr>
            <a:r>
              <a:rPr sz="1100" b="1">
                <a:solidFill>
                  <a:srgbClr val="0F172A"/>
                </a:solidFill>
                <a:latin typeface="Segoe UI"/>
              </a:rPr>
              <a:t>•   </a:t>
            </a:r>
            <a:r>
              <a:rPr sz="1100" b="0">
                <a:solidFill>
                  <a:srgbClr val="475569"/>
                </a:solidFill>
                <a:latin typeface="Segoe UI"/>
              </a:rPr>
              <a:t>Nguyên lý hoạt động chi tiết của BFS, DFS và Heuristic A*</a:t>
            </a:r>
          </a:p>
          <a:p>
            <a:pPr>
              <a:spcBef>
                <a:spcPts val="1000"/>
              </a:spcBef>
            </a:pPr>
            <a:r>
              <a:rPr sz="1100" b="1">
                <a:solidFill>
                  <a:srgbClr val="0F172A"/>
                </a:solidFill>
                <a:latin typeface="Segoe UI"/>
              </a:rPr>
              <a:t>•   </a:t>
            </a:r>
            <a:r>
              <a:rPr sz="1100" b="0">
                <a:solidFill>
                  <a:srgbClr val="475569"/>
                </a:solidFill>
                <a:latin typeface="Segoe UI"/>
              </a:rPr>
              <a:t>Bảng đối sánh toàn diện lý thuyết giữa 3 thuật toán</a:t>
            </a:r>
          </a:p>
        </p:txBody>
      </p:sp>
      <p:sp>
        <p:nvSpPr>
          <p:cNvPr id="12" name="Rectangle 11"/>
          <p:cNvSpPr/>
          <p:nvPr/>
        </p:nvSpPr>
        <p:spPr>
          <a:xfrm>
            <a:off x="6199632" y="1645920"/>
            <a:ext cx="2514600" cy="4480560"/>
          </a:xfrm>
          <a:prstGeom prst="rect">
            <a:avLst/>
          </a:prstGeom>
          <a:solidFill>
            <a:srgbClr val="F5F7FA"/>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9632" y="1645920"/>
            <a:ext cx="2514600" cy="73152"/>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82512" y="1828800"/>
            <a:ext cx="2148840" cy="4114800"/>
          </a:xfrm>
          <a:prstGeom prst="rect">
            <a:avLst/>
          </a:prstGeom>
          <a:noFill/>
        </p:spPr>
        <p:txBody>
          <a:bodyPr wrap="square">
            <a:spAutoFit/>
          </a:bodyPr>
          <a:lstStyle/>
          <a:p>
            <a:pPr>
              <a:defRPr sz="1100" b="1">
                <a:solidFill>
                  <a:srgbClr val="2563EB"/>
                </a:solidFill>
                <a:latin typeface="Segoe UI"/>
              </a:defRPr>
            </a:pPr>
            <a:r>
              <a:t>PHẦN 3</a:t>
            </a:r>
          </a:p>
          <a:p>
            <a:pPr>
              <a:spcBef>
                <a:spcPts val="600"/>
              </a:spcBef>
              <a:defRPr sz="1400" b="1">
                <a:solidFill>
                  <a:srgbClr val="1E3A8A"/>
                </a:solidFill>
                <a:latin typeface="Segoe UI"/>
              </a:defRPr>
            </a:pPr>
            <a:r>
              <a:t>Kết Quả Thực Nghiệm Đối Sánh</a:t>
            </a:r>
          </a:p>
          <a:p>
            <a:pPr>
              <a:spcBef>
                <a:spcPts val="1000"/>
              </a:spcBef>
            </a:pPr>
            <a:r>
              <a:rPr sz="1100" b="1">
                <a:solidFill>
                  <a:srgbClr val="0F172A"/>
                </a:solidFill>
                <a:latin typeface="Segoe UI"/>
              </a:rPr>
              <a:t>•   </a:t>
            </a:r>
            <a:r>
              <a:rPr sz="1100" b="0">
                <a:solidFill>
                  <a:srgbClr val="475569"/>
                </a:solidFill>
                <a:latin typeface="Segoe UI"/>
              </a:rPr>
              <a:t>Thực nghiệm song song trên 4 dạng địa hình đặc thù</a:t>
            </a:r>
          </a:p>
          <a:p>
            <a:pPr>
              <a:spcBef>
                <a:spcPts val="1000"/>
              </a:spcBef>
            </a:pPr>
            <a:r>
              <a:rPr sz="1100" b="1">
                <a:solidFill>
                  <a:srgbClr val="0F172A"/>
                </a:solidFill>
                <a:latin typeface="Segoe UI"/>
              </a:rPr>
              <a:t>•   </a:t>
            </a:r>
            <a:r>
              <a:rPr sz="1100" b="0">
                <a:solidFill>
                  <a:srgbClr val="475569"/>
                </a:solidFill>
                <a:latin typeface="Segoe UI"/>
              </a:rPr>
              <a:t>Phân tích bảng số liệu KPI (ô duyệt, độ dài, thời gian, RAM)</a:t>
            </a:r>
          </a:p>
          <a:p>
            <a:pPr>
              <a:spcBef>
                <a:spcPts val="1000"/>
              </a:spcBef>
            </a:pPr>
            <a:r>
              <a:rPr sz="1100" b="1">
                <a:solidFill>
                  <a:srgbClr val="0F172A"/>
                </a:solidFill>
                <a:latin typeface="Segoe UI"/>
              </a:rPr>
              <a:t>•   </a:t>
            </a:r>
            <a:r>
              <a:rPr sz="1100" b="0">
                <a:solidFill>
                  <a:srgbClr val="475569"/>
                </a:solidFill>
                <a:latin typeface="Segoe UI"/>
              </a:rPr>
              <a:t>Đánh giá khoa học theo 4 tiêu chuẩn kinh điển của AI</a:t>
            </a:r>
          </a:p>
        </p:txBody>
      </p:sp>
      <p:sp>
        <p:nvSpPr>
          <p:cNvPr id="15" name="Rectangle 14"/>
          <p:cNvSpPr/>
          <p:nvPr/>
        </p:nvSpPr>
        <p:spPr>
          <a:xfrm>
            <a:off x="8933688" y="1645920"/>
            <a:ext cx="2514600" cy="4480560"/>
          </a:xfrm>
          <a:prstGeom prst="rect">
            <a:avLst/>
          </a:prstGeom>
          <a:solidFill>
            <a:srgbClr val="F5F7FA"/>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933688" y="1645920"/>
            <a:ext cx="2514600"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16568" y="1828800"/>
            <a:ext cx="2148840" cy="4114800"/>
          </a:xfrm>
          <a:prstGeom prst="rect">
            <a:avLst/>
          </a:prstGeom>
          <a:noFill/>
        </p:spPr>
        <p:txBody>
          <a:bodyPr wrap="square">
            <a:spAutoFit/>
          </a:bodyPr>
          <a:lstStyle/>
          <a:p>
            <a:pPr>
              <a:defRPr sz="1100" b="1">
                <a:solidFill>
                  <a:srgbClr val="2563EB"/>
                </a:solidFill>
                <a:latin typeface="Segoe UI"/>
              </a:defRPr>
            </a:pPr>
            <a:r>
              <a:t>PHẦN 4</a:t>
            </a:r>
          </a:p>
          <a:p>
            <a:pPr>
              <a:spcBef>
                <a:spcPts val="600"/>
              </a:spcBef>
              <a:defRPr sz="1400" b="1">
                <a:solidFill>
                  <a:srgbClr val="1E3A8A"/>
                </a:solidFill>
                <a:latin typeface="Segoe UI"/>
              </a:defRPr>
            </a:pPr>
            <a:r>
              <a:t>Kịch Bản Demo &amp; Hướng Đi</a:t>
            </a:r>
          </a:p>
          <a:p>
            <a:pPr>
              <a:spcBef>
                <a:spcPts val="1000"/>
              </a:spcBef>
            </a:pPr>
            <a:r>
              <a:rPr sz="1100" b="1">
                <a:solidFill>
                  <a:srgbClr val="0F172A"/>
                </a:solidFill>
                <a:latin typeface="Segoe UI"/>
              </a:rPr>
              <a:t>•   </a:t>
            </a:r>
            <a:r>
              <a:rPr sz="1100" b="0">
                <a:solidFill>
                  <a:srgbClr val="475569"/>
                </a:solidFill>
                <a:latin typeface="Segoe UI"/>
              </a:rPr>
              <a:t>Kịch bản 4 bước demo trực tiếp trên phần mềm mô phỏng</a:t>
            </a:r>
          </a:p>
          <a:p>
            <a:pPr>
              <a:spcBef>
                <a:spcPts val="1000"/>
              </a:spcBef>
            </a:pPr>
            <a:r>
              <a:rPr sz="1100" b="1">
                <a:solidFill>
                  <a:srgbClr val="0F172A"/>
                </a:solidFill>
                <a:latin typeface="Segoe UI"/>
              </a:rPr>
              <a:t>•   </a:t>
            </a:r>
            <a:r>
              <a:rPr sz="1100" b="0">
                <a:solidFill>
                  <a:srgbClr val="475569"/>
                </a:solidFill>
                <a:latin typeface="Segoe UI"/>
              </a:rPr>
              <a:t>Tổng kết 100% mục tiêu đã hoàn thành của đề tài</a:t>
            </a:r>
          </a:p>
          <a:p>
            <a:pPr>
              <a:spcBef>
                <a:spcPts val="1000"/>
              </a:spcBef>
            </a:pPr>
            <a:r>
              <a:rPr sz="1100" b="1">
                <a:solidFill>
                  <a:srgbClr val="0F172A"/>
                </a:solidFill>
                <a:latin typeface="Segoe UI"/>
              </a:rPr>
              <a:t>•   </a:t>
            </a:r>
            <a:r>
              <a:rPr sz="1100" b="0">
                <a:solidFill>
                  <a:srgbClr val="475569"/>
                </a:solidFill>
                <a:latin typeface="Segoe UI"/>
              </a:rPr>
              <a:t>Đề xuất các hướng phát triển nâng cao trong tương lai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698480" cy="256032"/>
          </a:xfrm>
          <a:prstGeom prst="rect">
            <a:avLst/>
          </a:prstGeom>
          <a:noFill/>
        </p:spPr>
        <p:txBody>
          <a:bodyPr wrap="square" lIns="0" tIns="0" rIns="0" bIns="0">
            <a:spAutoFit/>
          </a:bodyPr>
          <a:lstStyle/>
          <a:p>
            <a:pPr>
              <a:defRPr sz="1000" b="1">
                <a:solidFill>
                  <a:srgbClr val="2563EB"/>
                </a:solidFill>
                <a:latin typeface="Segoe UI"/>
              </a:defRPr>
            </a:pPr>
            <a:r>
              <a:t>PHẦN 1 — PHÁT BIỂU BÀI TOÁN</a:t>
            </a:r>
          </a:p>
        </p:txBody>
      </p:sp>
      <p:sp>
        <p:nvSpPr>
          <p:cNvPr id="3" name="TextBox 2"/>
          <p:cNvSpPr txBox="1"/>
          <p:nvPr/>
        </p:nvSpPr>
        <p:spPr>
          <a:xfrm>
            <a:off x="731520" y="621792"/>
            <a:ext cx="10698480" cy="502920"/>
          </a:xfrm>
          <a:prstGeom prst="rect">
            <a:avLst/>
          </a:prstGeom>
          <a:noFill/>
        </p:spPr>
        <p:txBody>
          <a:bodyPr wrap="square" lIns="0" tIns="0" rIns="0" bIns="0">
            <a:spAutoFit/>
          </a:bodyPr>
          <a:lstStyle/>
          <a:p>
            <a:pPr>
              <a:defRPr sz="2100" b="1">
                <a:solidFill>
                  <a:srgbClr val="1E3A8A"/>
                </a:solidFill>
                <a:latin typeface="Segoe UI"/>
              </a:defRPr>
            </a:pPr>
            <a:r>
              <a:t>Bản Chất Bài Toán Tìm Đường Trong Mê Cung 2D</a:t>
            </a:r>
          </a:p>
        </p:txBody>
      </p:sp>
      <p:sp>
        <p:nvSpPr>
          <p:cNvPr id="4" name="Rectangle 3"/>
          <p:cNvSpPr/>
          <p:nvPr/>
        </p:nvSpPr>
        <p:spPr>
          <a:xfrm>
            <a:off x="731520" y="1207008"/>
            <a:ext cx="1072865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280160"/>
            <a:ext cx="10698480" cy="274320"/>
          </a:xfrm>
          <a:prstGeom prst="rect">
            <a:avLst/>
          </a:prstGeom>
          <a:noFill/>
        </p:spPr>
        <p:txBody>
          <a:bodyPr wrap="square" lIns="0" tIns="0" rIns="0" bIns="0">
            <a:spAutoFit/>
          </a:bodyPr>
          <a:lstStyle/>
          <a:p>
            <a:pPr>
              <a:defRPr sz="1100" i="1">
                <a:solidFill>
                  <a:srgbClr val="475569"/>
                </a:solidFill>
                <a:latin typeface="Segoe UI"/>
              </a:defRPr>
            </a:pPr>
            <a:r>
              <a:t>Xác định rõ ràng đầu vào, đầu ra và giá trị ứng dụng thực tiễn của đề tài</a:t>
            </a:r>
          </a:p>
        </p:txBody>
      </p:sp>
      <p:sp>
        <p:nvSpPr>
          <p:cNvPr id="6" name="TextBox 5"/>
          <p:cNvSpPr txBox="1"/>
          <p:nvPr/>
        </p:nvSpPr>
        <p:spPr>
          <a:xfrm>
            <a:off x="731520" y="1645920"/>
            <a:ext cx="5120640" cy="4572000"/>
          </a:xfrm>
          <a:prstGeom prst="rect">
            <a:avLst/>
          </a:prstGeom>
          <a:noFill/>
        </p:spPr>
        <p:txBody>
          <a:bodyPr wrap="square">
            <a:spAutoFit/>
          </a:bodyPr>
          <a:lstStyle/>
          <a:p>
            <a:pPr>
              <a:defRPr sz="1400" b="1">
                <a:solidFill>
                  <a:srgbClr val="1E3A8A"/>
                </a:solidFill>
                <a:latin typeface="Segoe UI"/>
              </a:defRPr>
            </a:pPr>
            <a:r>
              <a:t>1. BẢN CHẤT VÀ ĐẶC TẢ BÀI TOÁN</a:t>
            </a:r>
          </a:p>
          <a:p>
            <a:pPr>
              <a:spcBef>
                <a:spcPts val="1000"/>
              </a:spcBef>
            </a:pPr>
            <a:r>
              <a:rPr sz="1150" b="1">
                <a:solidFill>
                  <a:srgbClr val="0F172A"/>
                </a:solidFill>
                <a:latin typeface="Segoe UI"/>
              </a:rPr>
              <a:t>■  Bản chất bài toán: </a:t>
            </a:r>
            <a:r>
              <a:rPr sz="1150" b="0">
                <a:solidFill>
                  <a:srgbClr val="475569"/>
                </a:solidFill>
                <a:latin typeface="Segoe UI"/>
              </a:rPr>
              <a:t>Là bài toán tìm kiếm đường đi trên đồ thị phẳng rời rạc kích thước M × N. Tác tử AI cần tìm hành trình từ xuất phát đến đích.</a:t>
            </a:r>
          </a:p>
          <a:p>
            <a:pPr>
              <a:spcBef>
                <a:spcPts val="1000"/>
              </a:spcBef>
            </a:pPr>
            <a:r>
              <a:rPr sz="1150" b="1">
                <a:solidFill>
                  <a:srgbClr val="0F172A"/>
                </a:solidFill>
                <a:latin typeface="Segoe UI"/>
              </a:rPr>
              <a:t>■  Đầu vào (Input): </a:t>
            </a:r>
            <a:r>
              <a:rPr sz="1150" b="0">
                <a:solidFill>
                  <a:srgbClr val="475569"/>
                </a:solidFill>
                <a:latin typeface="Segoe UI"/>
              </a:rPr>
              <a:t>Ma trận lưới M × N; Tọa độ Start S(r_s, c_s); Tọa độ Goal G(r_g, c_g); Tập hợp các ô tường đá vật cản (Walls).</a:t>
            </a:r>
          </a:p>
          <a:p>
            <a:pPr>
              <a:spcBef>
                <a:spcPts val="1000"/>
              </a:spcBef>
            </a:pPr>
            <a:r>
              <a:rPr sz="1150" b="1">
                <a:solidFill>
                  <a:srgbClr val="0F172A"/>
                </a:solidFill>
                <a:latin typeface="Segoe UI"/>
              </a:rPr>
              <a:t>■  Đầu ra (Output): </a:t>
            </a:r>
            <a:r>
              <a:rPr sz="1150" b="0">
                <a:solidFill>
                  <a:srgbClr val="475569"/>
                </a:solidFill>
                <a:latin typeface="Segoe UI"/>
              </a:rPr>
              <a:t>Chuỗi tọa độ đường đi hợp lệ từ S đến G đạt độ dài ngắn nhất (hoặc kết luận vô nghiệm an toàn), kèm các chỉ số đo lường hiệu năng.</a:t>
            </a:r>
          </a:p>
          <a:p>
            <a:pPr>
              <a:spcBef>
                <a:spcPts val="1000"/>
              </a:spcBef>
            </a:pPr>
            <a:r>
              <a:rPr sz="1150" b="1">
                <a:solidFill>
                  <a:srgbClr val="0F172A"/>
                </a:solidFill>
                <a:latin typeface="Segoe UI"/>
              </a:rPr>
              <a:t>■  Ràng buộc di chuyển: </a:t>
            </a:r>
            <a:r>
              <a:rPr sz="1150" b="0">
                <a:solidFill>
                  <a:srgbClr val="475569"/>
                </a:solidFill>
                <a:latin typeface="Segoe UI"/>
              </a:rPr>
              <a:t>Tác tử chỉ được di chuyển sang 4 ô lân cận trực giao (Lên, Phải, Xuống, Trái). Không cho phép đi chéo góc hoặc xuyên qua tường cản.</a:t>
            </a:r>
          </a:p>
        </p:txBody>
      </p:sp>
      <p:sp>
        <p:nvSpPr>
          <p:cNvPr id="7" name="Rectangle 6"/>
          <p:cNvSpPr/>
          <p:nvPr/>
        </p:nvSpPr>
        <p:spPr>
          <a:xfrm>
            <a:off x="6126480" y="1645920"/>
            <a:ext cx="13716" cy="457200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645920"/>
            <a:ext cx="4937760" cy="4572000"/>
          </a:xfrm>
          <a:prstGeom prst="rect">
            <a:avLst/>
          </a:prstGeom>
          <a:noFill/>
        </p:spPr>
        <p:txBody>
          <a:bodyPr wrap="square">
            <a:spAutoFit/>
          </a:bodyPr>
          <a:lstStyle/>
          <a:p>
            <a:pPr>
              <a:defRPr sz="1400" b="1">
                <a:solidFill>
                  <a:srgbClr val="2563EB"/>
                </a:solidFill>
                <a:latin typeface="Segoe UI"/>
              </a:defRPr>
            </a:pPr>
            <a:r>
              <a:t>2. Ý NGHĨA VÀ ỨNG DỤNG THỰC TIỄN</a:t>
            </a:r>
          </a:p>
          <a:p>
            <a:pPr>
              <a:spcBef>
                <a:spcPts val="1000"/>
              </a:spcBef>
            </a:pPr>
            <a:r>
              <a:rPr sz="1150" b="1">
                <a:solidFill>
                  <a:srgbClr val="0F172A"/>
                </a:solidFill>
                <a:latin typeface="Segoe UI"/>
              </a:rPr>
              <a:t>✔  Bản đồ định vị GPS (Google Maps): </a:t>
            </a:r>
            <a:r>
              <a:rPr sz="1150" b="0">
                <a:solidFill>
                  <a:srgbClr val="475569"/>
                </a:solidFill>
                <a:latin typeface="Segoe UI"/>
              </a:rPr>
              <a:t>Thuật toán cốt lõi tìm lộ trình di chuyển tối ưu giữa 2 địa điểm trên mạng lưới giao thông đô thị.</a:t>
            </a:r>
          </a:p>
          <a:p>
            <a:pPr>
              <a:spcBef>
                <a:spcPts val="1000"/>
              </a:spcBef>
            </a:pPr>
            <a:r>
              <a:rPr sz="1150" b="1">
                <a:solidFill>
                  <a:srgbClr val="0F172A"/>
                </a:solidFill>
                <a:latin typeface="Segoe UI"/>
              </a:rPr>
              <a:t>✔  Robot tự hành AGV trong kho thông minh: </a:t>
            </a:r>
            <a:r>
              <a:rPr sz="1150" b="0">
                <a:solidFill>
                  <a:srgbClr val="475569"/>
                </a:solidFill>
                <a:latin typeface="Segoe UI"/>
              </a:rPr>
              <a:t>Điều phối hàng nghìn robot vận chuyển hàng hóa tự động trong kho Amazon, di chuyển liên tục không va chạm.</a:t>
            </a:r>
          </a:p>
          <a:p>
            <a:pPr>
              <a:spcBef>
                <a:spcPts val="1000"/>
              </a:spcBef>
            </a:pPr>
            <a:r>
              <a:rPr sz="1150" b="1">
                <a:solidFill>
                  <a:srgbClr val="0F172A"/>
                </a:solidFill>
                <a:latin typeface="Segoe UI"/>
              </a:rPr>
              <a:t>✔  AI điều hướng nhân vật trong Video Games: </a:t>
            </a:r>
            <a:r>
              <a:rPr sz="1150" b="0">
                <a:solidFill>
                  <a:srgbClr val="475569"/>
                </a:solidFill>
                <a:latin typeface="Segoe UI"/>
              </a:rPr>
              <a:t>Hệ thống điều hướng NPC (Navigation Mesh) tự động tìm đường tiếp cận mục tiêu hoặc lẩn tránh chướng ngại vật.</a:t>
            </a:r>
          </a:p>
          <a:p>
            <a:pPr>
              <a:spcBef>
                <a:spcPts val="1000"/>
              </a:spcBef>
            </a:pPr>
            <a:r>
              <a:rPr sz="1150" b="1">
                <a:solidFill>
                  <a:srgbClr val="0F172A"/>
                </a:solidFill>
                <a:latin typeface="Segoe UI"/>
              </a:rPr>
              <a:t>✔  Định tuyến mạng máy tính (Network Routing): </a:t>
            </a:r>
            <a:r>
              <a:rPr sz="1150" b="0">
                <a:solidFill>
                  <a:srgbClr val="475569"/>
                </a:solidFill>
                <a:latin typeface="Segoe UI"/>
              </a:rPr>
              <a:t>Truyền tải các gói dữ liệu qua các nút mạng trung gian với độ trễ thấp nhất và tối ưu băng thông.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698480" cy="256032"/>
          </a:xfrm>
          <a:prstGeom prst="rect">
            <a:avLst/>
          </a:prstGeom>
          <a:noFill/>
        </p:spPr>
        <p:txBody>
          <a:bodyPr wrap="square" lIns="0" tIns="0" rIns="0" bIns="0">
            <a:spAutoFit/>
          </a:bodyPr>
          <a:lstStyle/>
          <a:p>
            <a:pPr>
              <a:defRPr sz="1000" b="1">
                <a:solidFill>
                  <a:srgbClr val="2563EB"/>
                </a:solidFill>
                <a:latin typeface="Segoe UI"/>
              </a:defRPr>
            </a:pPr>
            <a:r>
              <a:t>PHẦN 2 — CƠ SỞ LÝ THUYẾT</a:t>
            </a:r>
          </a:p>
        </p:txBody>
      </p:sp>
      <p:sp>
        <p:nvSpPr>
          <p:cNvPr id="3" name="TextBox 2"/>
          <p:cNvSpPr txBox="1"/>
          <p:nvPr/>
        </p:nvSpPr>
        <p:spPr>
          <a:xfrm>
            <a:off x="731520" y="621792"/>
            <a:ext cx="10698480" cy="502920"/>
          </a:xfrm>
          <a:prstGeom prst="rect">
            <a:avLst/>
          </a:prstGeom>
          <a:noFill/>
        </p:spPr>
        <p:txBody>
          <a:bodyPr wrap="square" lIns="0" tIns="0" rIns="0" bIns="0">
            <a:spAutoFit/>
          </a:bodyPr>
          <a:lstStyle/>
          <a:p>
            <a:pPr>
              <a:defRPr sz="2100" b="1">
                <a:solidFill>
                  <a:srgbClr val="1E3A8A"/>
                </a:solidFill>
                <a:latin typeface="Segoe UI"/>
              </a:defRPr>
            </a:pPr>
            <a:r>
              <a:t>Mô Hình Hóa Không Gian Trạng Thái Chuẩn AI</a:t>
            </a:r>
          </a:p>
        </p:txBody>
      </p:sp>
      <p:sp>
        <p:nvSpPr>
          <p:cNvPr id="4" name="Rectangle 3"/>
          <p:cNvSpPr/>
          <p:nvPr/>
        </p:nvSpPr>
        <p:spPr>
          <a:xfrm>
            <a:off x="731520" y="1207008"/>
            <a:ext cx="1072865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280160"/>
            <a:ext cx="10698480" cy="274320"/>
          </a:xfrm>
          <a:prstGeom prst="rect">
            <a:avLst/>
          </a:prstGeom>
          <a:noFill/>
        </p:spPr>
        <p:txBody>
          <a:bodyPr wrap="square" lIns="0" tIns="0" rIns="0" bIns="0">
            <a:spAutoFit/>
          </a:bodyPr>
          <a:lstStyle/>
          <a:p>
            <a:pPr>
              <a:defRPr sz="1100" i="1">
                <a:solidFill>
                  <a:srgbClr val="475569"/>
                </a:solidFill>
                <a:latin typeface="Segoe UI"/>
              </a:defRPr>
            </a:pPr>
            <a:r>
              <a:t>Chuẩn hóa bài toán theo 5 thành phần kinh điển làm thước đo so sánh công bằng cả 3 thuật toán</a:t>
            </a:r>
          </a:p>
        </p:txBody>
      </p:sp>
      <p:graphicFrame>
        <p:nvGraphicFramePr>
          <p:cNvPr id="6" name="Table 5"/>
          <p:cNvGraphicFramePr>
            <a:graphicFrameLocks noGrp="1"/>
          </p:cNvGraphicFramePr>
          <p:nvPr/>
        </p:nvGraphicFramePr>
        <p:xfrm>
          <a:off x="731520" y="1645920"/>
          <a:ext cx="10698480" cy="4480560"/>
        </p:xfrm>
        <a:graphic>
          <a:graphicData uri="http://schemas.openxmlformats.org/drawingml/2006/table">
            <a:tbl>
              <a:tblPr firstRow="1" bandRow="1">
                <a:tableStyleId>{5C22544A-7EE6-4342-B048-85BDC9FD1C3A}</a:tableStyleId>
              </a:tblPr>
              <a:tblGrid>
                <a:gridCol w="2011680"/>
                <a:gridCol w="1097280"/>
                <a:gridCol w="4846320"/>
                <a:gridCol w="2743200"/>
              </a:tblGrid>
              <a:tr h="640080">
                <a:tc>
                  <a:txBody>
                    <a:bodyPr/>
                    <a:lstStyle/>
                    <a:p>
                      <a:pPr algn="ctr">
                        <a:defRPr sz="1100" b="1">
                          <a:solidFill>
                            <a:srgbClr val="FFFFFF"/>
                          </a:solidFill>
                          <a:latin typeface="Segoe UI"/>
                        </a:defRPr>
                      </a:pPr>
                      <a:r>
                        <a:t>Thành Phần Mô Hình</a:t>
                      </a:r>
                    </a:p>
                  </a:txBody>
                  <a:tcPr>
                    <a:solidFill>
                      <a:srgbClr val="1E3A8A"/>
                    </a:solidFill>
                  </a:tcPr>
                </a:tc>
                <a:tc>
                  <a:txBody>
                    <a:bodyPr/>
                    <a:lstStyle/>
                    <a:p>
                      <a:pPr algn="ctr">
                        <a:defRPr sz="1100" b="1">
                          <a:solidFill>
                            <a:srgbClr val="FFFFFF"/>
                          </a:solidFill>
                          <a:latin typeface="Segoe UI"/>
                        </a:defRPr>
                      </a:pPr>
                      <a:r>
                        <a:t>Ký Hiệu</a:t>
                      </a:r>
                    </a:p>
                  </a:txBody>
                  <a:tcPr>
                    <a:solidFill>
                      <a:srgbClr val="1E3A8A"/>
                    </a:solidFill>
                  </a:tcPr>
                </a:tc>
                <a:tc>
                  <a:txBody>
                    <a:bodyPr/>
                    <a:lstStyle/>
                    <a:p>
                      <a:pPr algn="ctr">
                        <a:defRPr sz="1100" b="1">
                          <a:solidFill>
                            <a:srgbClr val="FFFFFF"/>
                          </a:solidFill>
                          <a:latin typeface="Segoe UI"/>
                        </a:defRPr>
                      </a:pPr>
                      <a:r>
                        <a:t>Đặc Tả Toán Học Trong Bài Toán Mê Cung</a:t>
                      </a:r>
                    </a:p>
                  </a:txBody>
                  <a:tcPr>
                    <a:solidFill>
                      <a:srgbClr val="1E3A8A"/>
                    </a:solidFill>
                  </a:tcPr>
                </a:tc>
                <a:tc>
                  <a:txBody>
                    <a:bodyPr/>
                    <a:lstStyle/>
                    <a:p>
                      <a:pPr algn="ctr">
                        <a:defRPr sz="1100" b="1">
                          <a:solidFill>
                            <a:srgbClr val="FFFFFF"/>
                          </a:solidFill>
                          <a:latin typeface="Segoe UI"/>
                        </a:defRPr>
                      </a:pPr>
                      <a:r>
                        <a:t>Ý Nghĩa Kỹ Thuật</a:t>
                      </a:r>
                    </a:p>
                  </a:txBody>
                  <a:tcPr>
                    <a:solidFill>
                      <a:srgbClr val="1E3A8A"/>
                    </a:solidFill>
                  </a:tcPr>
                </a:tc>
              </a:tr>
              <a:tr h="640080">
                <a:tc>
                  <a:txBody>
                    <a:bodyPr/>
                    <a:lstStyle/>
                    <a:p>
                      <a:pPr algn="l">
                        <a:defRPr sz="1000">
                          <a:solidFill>
                            <a:srgbClr val="0F172A"/>
                          </a:solidFill>
                          <a:latin typeface="Segoe UI"/>
                        </a:defRPr>
                      </a:pPr>
                      <a:r>
                        <a:t>1. Tập trạng thái</a:t>
                      </a:r>
                    </a:p>
                  </a:txBody>
                  <a:tcPr>
                    <a:solidFill>
                      <a:srgbClr val="FFFFFF"/>
                    </a:solidFill>
                  </a:tcPr>
                </a:tc>
                <a:tc>
                  <a:txBody>
                    <a:bodyPr/>
                    <a:lstStyle/>
                    <a:p>
                      <a:pPr algn="l">
                        <a:defRPr sz="1000">
                          <a:solidFill>
                            <a:srgbClr val="0F172A"/>
                          </a:solidFill>
                          <a:latin typeface="Segoe UI"/>
                        </a:defRPr>
                      </a:pPr>
                      <a:r>
                        <a:t>S</a:t>
                      </a:r>
                    </a:p>
                  </a:txBody>
                  <a:tcPr>
                    <a:solidFill>
                      <a:srgbClr val="FFFFFF"/>
                    </a:solidFill>
                  </a:tcPr>
                </a:tc>
                <a:tc>
                  <a:txBody>
                    <a:bodyPr/>
                    <a:lstStyle/>
                    <a:p>
                      <a:pPr algn="ctr">
                        <a:defRPr sz="1000">
                          <a:solidFill>
                            <a:srgbClr val="0F172A"/>
                          </a:solidFill>
                          <a:latin typeface="Segoe UI"/>
                        </a:defRPr>
                      </a:pPr>
                      <a:r>
                        <a:t>S = { u(r, c) | 0 ≤ r &lt; M, 0 ≤ c &lt; N, grid[r][c] ≠ WALL }</a:t>
                      </a:r>
                    </a:p>
                  </a:txBody>
                  <a:tcPr>
                    <a:solidFill>
                      <a:srgbClr val="FFFFFF"/>
                    </a:solidFill>
                  </a:tcPr>
                </a:tc>
                <a:tc>
                  <a:txBody>
                    <a:bodyPr/>
                    <a:lstStyle/>
                    <a:p>
                      <a:pPr algn="ctr">
                        <a:defRPr sz="1000">
                          <a:solidFill>
                            <a:srgbClr val="0F172A"/>
                          </a:solidFill>
                          <a:latin typeface="Segoe UI"/>
                        </a:defRPr>
                      </a:pPr>
                      <a:r>
                        <a:t>Mỗi ô trống hợp lệ là 1 trạng thái u(r, c). Ô tường bị loại bỏ.</a:t>
                      </a:r>
                    </a:p>
                  </a:txBody>
                  <a:tcPr>
                    <a:solidFill>
                      <a:srgbClr val="FFFFFF"/>
                    </a:solidFill>
                  </a:tcPr>
                </a:tc>
              </a:tr>
              <a:tr h="640080">
                <a:tc>
                  <a:txBody>
                    <a:bodyPr/>
                    <a:lstStyle/>
                    <a:p>
                      <a:pPr algn="l">
                        <a:defRPr sz="1000">
                          <a:solidFill>
                            <a:srgbClr val="0F172A"/>
                          </a:solidFill>
                          <a:latin typeface="Segoe UI"/>
                        </a:defRPr>
                      </a:pPr>
                      <a:r>
                        <a:t>2. Trạng thái bắt đầu</a:t>
                      </a:r>
                    </a:p>
                  </a:txBody>
                  <a:tcPr>
                    <a:solidFill>
                      <a:srgbClr val="F5F7FA"/>
                    </a:solidFill>
                  </a:tcPr>
                </a:tc>
                <a:tc>
                  <a:txBody>
                    <a:bodyPr/>
                    <a:lstStyle/>
                    <a:p>
                      <a:pPr algn="l">
                        <a:defRPr sz="1000">
                          <a:solidFill>
                            <a:srgbClr val="0F172A"/>
                          </a:solidFill>
                          <a:latin typeface="Segoe UI"/>
                        </a:defRPr>
                      </a:pPr>
                      <a:r>
                        <a:t>s₀</a:t>
                      </a:r>
                    </a:p>
                  </a:txBody>
                  <a:tcPr>
                    <a:solidFill>
                      <a:srgbClr val="F5F7FA"/>
                    </a:solidFill>
                  </a:tcPr>
                </a:tc>
                <a:tc>
                  <a:txBody>
                    <a:bodyPr/>
                    <a:lstStyle/>
                    <a:p>
                      <a:pPr algn="ctr">
                        <a:defRPr sz="1000">
                          <a:solidFill>
                            <a:srgbClr val="0F172A"/>
                          </a:solidFill>
                          <a:latin typeface="Segoe UI"/>
                        </a:defRPr>
                      </a:pPr>
                      <a:r>
                        <a:t>s₀ = Start(r_s, c_s) ∈ S (Mặc định tại góc trên bên trái)</a:t>
                      </a:r>
                    </a:p>
                  </a:txBody>
                  <a:tcPr>
                    <a:solidFill>
                      <a:srgbClr val="F5F7FA"/>
                    </a:solidFill>
                  </a:tcPr>
                </a:tc>
                <a:tc>
                  <a:txBody>
                    <a:bodyPr/>
                    <a:lstStyle/>
                    <a:p>
                      <a:pPr algn="ctr">
                        <a:defRPr sz="1000">
                          <a:solidFill>
                            <a:srgbClr val="0F172A"/>
                          </a:solidFill>
                          <a:latin typeface="Segoe UI"/>
                        </a:defRPr>
                      </a:pPr>
                      <a:r>
                        <a:t>Điểm xuất phát ban đầu của thực thể tìm đường.</a:t>
                      </a:r>
                    </a:p>
                  </a:txBody>
                  <a:tcPr>
                    <a:solidFill>
                      <a:srgbClr val="F5F7FA"/>
                    </a:solidFill>
                  </a:tcPr>
                </a:tc>
              </a:tr>
              <a:tr h="640080">
                <a:tc>
                  <a:txBody>
                    <a:bodyPr/>
                    <a:lstStyle/>
                    <a:p>
                      <a:pPr algn="l">
                        <a:defRPr sz="1000">
                          <a:solidFill>
                            <a:srgbClr val="0F172A"/>
                          </a:solidFill>
                          <a:latin typeface="Segoe UI"/>
                        </a:defRPr>
                      </a:pPr>
                      <a:r>
                        <a:t>3. Trạng thái đích</a:t>
                      </a:r>
                    </a:p>
                  </a:txBody>
                  <a:tcPr>
                    <a:solidFill>
                      <a:srgbClr val="FFFFFF"/>
                    </a:solidFill>
                  </a:tcPr>
                </a:tc>
                <a:tc>
                  <a:txBody>
                    <a:bodyPr/>
                    <a:lstStyle/>
                    <a:p>
                      <a:pPr algn="l">
                        <a:defRPr sz="1000">
                          <a:solidFill>
                            <a:srgbClr val="0F172A"/>
                          </a:solidFill>
                          <a:latin typeface="Segoe UI"/>
                        </a:defRPr>
                      </a:pPr>
                      <a:r>
                        <a:t>G</a:t>
                      </a:r>
                    </a:p>
                  </a:txBody>
                  <a:tcPr>
                    <a:solidFill>
                      <a:srgbClr val="FFFFFF"/>
                    </a:solidFill>
                  </a:tcPr>
                </a:tc>
                <a:tc>
                  <a:txBody>
                    <a:bodyPr/>
                    <a:lstStyle/>
                    <a:p>
                      <a:pPr algn="ctr">
                        <a:defRPr sz="1000">
                          <a:solidFill>
                            <a:srgbClr val="0F172A"/>
                          </a:solidFill>
                          <a:latin typeface="Segoe UI"/>
                        </a:defRPr>
                      </a:pPr>
                      <a:r>
                        <a:t>Goal-Test(u) ⇔ (u.r == goal.r) ∧ (u.c == goal.c)</a:t>
                      </a:r>
                    </a:p>
                  </a:txBody>
                  <a:tcPr>
                    <a:solidFill>
                      <a:srgbClr val="FFFFFF"/>
                    </a:solidFill>
                  </a:tcPr>
                </a:tc>
                <a:tc>
                  <a:txBody>
                    <a:bodyPr/>
                    <a:lstStyle/>
                    <a:p>
                      <a:pPr algn="ctr">
                        <a:defRPr sz="1000">
                          <a:solidFill>
                            <a:srgbClr val="0F172A"/>
                          </a:solidFill>
                          <a:latin typeface="Segoe UI"/>
                        </a:defRPr>
                      </a:pPr>
                      <a:r>
                        <a:t>Điều kiện dừng: khi vị trí hiện tại trùng tọa độ đích đến.</a:t>
                      </a:r>
                    </a:p>
                  </a:txBody>
                  <a:tcPr>
                    <a:solidFill>
                      <a:srgbClr val="FFFFFF"/>
                    </a:solidFill>
                  </a:tcPr>
                </a:tc>
              </a:tr>
              <a:tr h="640080">
                <a:tc>
                  <a:txBody>
                    <a:bodyPr/>
                    <a:lstStyle/>
                    <a:p>
                      <a:pPr algn="l">
                        <a:defRPr sz="1000">
                          <a:solidFill>
                            <a:srgbClr val="0F172A"/>
                          </a:solidFill>
                          <a:latin typeface="Segoe UI"/>
                        </a:defRPr>
                      </a:pPr>
                      <a:r>
                        <a:t>4. Tập hành động</a:t>
                      </a:r>
                    </a:p>
                  </a:txBody>
                  <a:tcPr>
                    <a:solidFill>
                      <a:srgbClr val="F5F7FA"/>
                    </a:solidFill>
                  </a:tcPr>
                </a:tc>
                <a:tc>
                  <a:txBody>
                    <a:bodyPr/>
                    <a:lstStyle/>
                    <a:p>
                      <a:pPr algn="l">
                        <a:defRPr sz="1000">
                          <a:solidFill>
                            <a:srgbClr val="0F172A"/>
                          </a:solidFill>
                          <a:latin typeface="Segoe UI"/>
                        </a:defRPr>
                      </a:pPr>
                      <a:r>
                        <a:t>A(u)</a:t>
                      </a:r>
                    </a:p>
                  </a:txBody>
                  <a:tcPr>
                    <a:solidFill>
                      <a:srgbClr val="F5F7FA"/>
                    </a:solidFill>
                  </a:tcPr>
                </a:tc>
                <a:tc>
                  <a:txBody>
                    <a:bodyPr/>
                    <a:lstStyle/>
                    <a:p>
                      <a:pPr algn="ctr">
                        <a:defRPr sz="1000">
                          <a:solidFill>
                            <a:srgbClr val="0F172A"/>
                          </a:solidFill>
                          <a:latin typeface="Segoe UI"/>
                        </a:defRPr>
                      </a:pPr>
                      <a:r>
                        <a:t>A = { Lên (-1, 0), Phải (0, 1), Xuống (1, 0), Trái (0, -1) }</a:t>
                      </a:r>
                    </a:p>
                  </a:txBody>
                  <a:tcPr>
                    <a:solidFill>
                      <a:srgbClr val="F5F7FA"/>
                    </a:solidFill>
                  </a:tcPr>
                </a:tc>
                <a:tc>
                  <a:txBody>
                    <a:bodyPr/>
                    <a:lstStyle/>
                    <a:p>
                      <a:pPr algn="ctr">
                        <a:defRPr sz="1000">
                          <a:solidFill>
                            <a:srgbClr val="0F172A"/>
                          </a:solidFill>
                          <a:latin typeface="Segoe UI"/>
                        </a:defRPr>
                      </a:pPr>
                      <a:r>
                        <a:t>4 hướng di chuyển trực giao; không cho phép đi chéo góc.</a:t>
                      </a:r>
                    </a:p>
                  </a:txBody>
                  <a:tcPr>
                    <a:solidFill>
                      <a:srgbClr val="F5F7FA"/>
                    </a:solidFill>
                  </a:tcPr>
                </a:tc>
              </a:tr>
              <a:tr h="640080">
                <a:tc>
                  <a:txBody>
                    <a:bodyPr/>
                    <a:lstStyle/>
                    <a:p>
                      <a:pPr algn="l">
                        <a:defRPr sz="1000">
                          <a:solidFill>
                            <a:srgbClr val="0F172A"/>
                          </a:solidFill>
                          <a:latin typeface="Segoe UI"/>
                        </a:defRPr>
                      </a:pPr>
                      <a:r>
                        <a:t>5. Hàm chuyển trạng thái</a:t>
                      </a:r>
                    </a:p>
                  </a:txBody>
                  <a:tcPr>
                    <a:solidFill>
                      <a:srgbClr val="FFFFFF"/>
                    </a:solidFill>
                  </a:tcPr>
                </a:tc>
                <a:tc>
                  <a:txBody>
                    <a:bodyPr/>
                    <a:lstStyle/>
                    <a:p>
                      <a:pPr algn="l">
                        <a:defRPr sz="1000">
                          <a:solidFill>
                            <a:srgbClr val="0F172A"/>
                          </a:solidFill>
                          <a:latin typeface="Segoe UI"/>
                        </a:defRPr>
                      </a:pPr>
                      <a:r>
                        <a:t>Result(u, a)</a:t>
                      </a:r>
                    </a:p>
                  </a:txBody>
                  <a:tcPr>
                    <a:solidFill>
                      <a:srgbClr val="FFFFFF"/>
                    </a:solidFill>
                  </a:tcPr>
                </a:tc>
                <a:tc>
                  <a:txBody>
                    <a:bodyPr/>
                    <a:lstStyle/>
                    <a:p>
                      <a:pPr algn="ctr">
                        <a:defRPr sz="1000">
                          <a:solidFill>
                            <a:srgbClr val="0F172A"/>
                          </a:solidFill>
                          <a:latin typeface="Segoe UI"/>
                        </a:defRPr>
                      </a:pPr>
                      <a:r>
                        <a:t>Result(u, a) = v(r + dr, c + dc) nếu v ∈ S</a:t>
                      </a:r>
                    </a:p>
                  </a:txBody>
                  <a:tcPr>
                    <a:solidFill>
                      <a:srgbClr val="FFFFFF"/>
                    </a:solidFill>
                  </a:tcPr>
                </a:tc>
                <a:tc>
                  <a:txBody>
                    <a:bodyPr/>
                    <a:lstStyle/>
                    <a:p>
                      <a:pPr algn="ctr">
                        <a:defRPr sz="1000">
                          <a:solidFill>
                            <a:srgbClr val="0F172A"/>
                          </a:solidFill>
                          <a:latin typeface="Segoe UI"/>
                        </a:defRPr>
                      </a:pPr>
                      <a:r>
                        <a:t>Quy tắc di chuyển sang ô lân cận thông suốt.</a:t>
                      </a:r>
                    </a:p>
                  </a:txBody>
                  <a:tcPr>
                    <a:solidFill>
                      <a:srgbClr val="FFFFFF"/>
                    </a:solidFill>
                  </a:tcPr>
                </a:tc>
              </a:tr>
              <a:tr h="640080">
                <a:tc>
                  <a:txBody>
                    <a:bodyPr/>
                    <a:lstStyle/>
                    <a:p>
                      <a:pPr algn="l">
                        <a:defRPr sz="1000">
                          <a:solidFill>
                            <a:srgbClr val="0F172A"/>
                          </a:solidFill>
                          <a:latin typeface="Segoe UI"/>
                        </a:defRPr>
                      </a:pPr>
                      <a:r>
                        <a:t>6. Chi phí bước đi</a:t>
                      </a:r>
                    </a:p>
                  </a:txBody>
                  <a:tcPr>
                    <a:solidFill>
                      <a:srgbClr val="F5F7FA"/>
                    </a:solidFill>
                  </a:tcPr>
                </a:tc>
                <a:tc>
                  <a:txBody>
                    <a:bodyPr/>
                    <a:lstStyle/>
                    <a:p>
                      <a:pPr algn="l">
                        <a:defRPr sz="1000">
                          <a:solidFill>
                            <a:srgbClr val="0F172A"/>
                          </a:solidFill>
                          <a:latin typeface="Segoe UI"/>
                        </a:defRPr>
                      </a:pPr>
                      <a:r>
                        <a:t>c(u, v)</a:t>
                      </a:r>
                    </a:p>
                  </a:txBody>
                  <a:tcPr>
                    <a:solidFill>
                      <a:srgbClr val="F5F7FA"/>
                    </a:solidFill>
                  </a:tcPr>
                </a:tc>
                <a:tc>
                  <a:txBody>
                    <a:bodyPr/>
                    <a:lstStyle/>
                    <a:p>
                      <a:pPr algn="ctr">
                        <a:defRPr sz="1000">
                          <a:solidFill>
                            <a:srgbClr val="0F172A"/>
                          </a:solidFill>
                          <a:latin typeface="Segoe UI"/>
                        </a:defRPr>
                      </a:pPr>
                      <a:r>
                        <a:t>c(u, v) = 1, ∀(u, v) ∈ E (Đồng nhất cho mọi bước đi)</a:t>
                      </a:r>
                    </a:p>
                  </a:txBody>
                  <a:tcPr>
                    <a:solidFill>
                      <a:srgbClr val="F5F7FA"/>
                    </a:solidFill>
                  </a:tcPr>
                </a:tc>
                <a:tc>
                  <a:txBody>
                    <a:bodyPr/>
                    <a:lstStyle/>
                    <a:p>
                      <a:pPr algn="ctr">
                        <a:defRPr sz="1000">
                          <a:solidFill>
                            <a:srgbClr val="0F172A"/>
                          </a:solidFill>
                          <a:latin typeface="Segoe UI"/>
                        </a:defRPr>
                      </a:pPr>
                      <a:r>
                        <a:t>Điều kiện để BFS bảo đảm tìm ra đường ngắn nhất tối ưu.</a:t>
                      </a:r>
                    </a:p>
                  </a:txBody>
                  <a:tcPr>
                    <a:solidFill>
                      <a:srgbClr val="F5F7FA"/>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698480" cy="256032"/>
          </a:xfrm>
          <a:prstGeom prst="rect">
            <a:avLst/>
          </a:prstGeom>
          <a:noFill/>
        </p:spPr>
        <p:txBody>
          <a:bodyPr wrap="square" lIns="0" tIns="0" rIns="0" bIns="0">
            <a:spAutoFit/>
          </a:bodyPr>
          <a:lstStyle/>
          <a:p>
            <a:pPr>
              <a:defRPr sz="1000" b="1">
                <a:solidFill>
                  <a:srgbClr val="2563EB"/>
                </a:solidFill>
                <a:latin typeface="Segoe UI"/>
              </a:defRPr>
            </a:pPr>
            <a:r>
              <a:t>PHẦN 2.1 — THUẬT TOÁN TÌM KIẾM MÙ</a:t>
            </a:r>
          </a:p>
        </p:txBody>
      </p:sp>
      <p:sp>
        <p:nvSpPr>
          <p:cNvPr id="3" name="TextBox 2"/>
          <p:cNvSpPr txBox="1"/>
          <p:nvPr/>
        </p:nvSpPr>
        <p:spPr>
          <a:xfrm>
            <a:off x="731520" y="621792"/>
            <a:ext cx="10698480" cy="502920"/>
          </a:xfrm>
          <a:prstGeom prst="rect">
            <a:avLst/>
          </a:prstGeom>
          <a:noFill/>
        </p:spPr>
        <p:txBody>
          <a:bodyPr wrap="square" lIns="0" tIns="0" rIns="0" bIns="0">
            <a:spAutoFit/>
          </a:bodyPr>
          <a:lstStyle/>
          <a:p>
            <a:pPr>
              <a:defRPr sz="2100" b="1">
                <a:solidFill>
                  <a:srgbClr val="1E3A8A"/>
                </a:solidFill>
                <a:latin typeface="Segoe UI"/>
              </a:defRPr>
            </a:pPr>
            <a:r>
              <a:t>Thuật Toán BFS (Breadth-First Search — Chiều Rộng)</a:t>
            </a:r>
          </a:p>
        </p:txBody>
      </p:sp>
      <p:sp>
        <p:nvSpPr>
          <p:cNvPr id="4" name="Rectangle 3"/>
          <p:cNvSpPr/>
          <p:nvPr/>
        </p:nvSpPr>
        <p:spPr>
          <a:xfrm>
            <a:off x="731520" y="1207008"/>
            <a:ext cx="1072865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280160"/>
            <a:ext cx="10698480" cy="274320"/>
          </a:xfrm>
          <a:prstGeom prst="rect">
            <a:avLst/>
          </a:prstGeom>
          <a:noFill/>
        </p:spPr>
        <p:txBody>
          <a:bodyPr wrap="square" lIns="0" tIns="0" rIns="0" bIns="0">
            <a:spAutoFit/>
          </a:bodyPr>
          <a:lstStyle/>
          <a:p>
            <a:pPr>
              <a:defRPr sz="1100" i="1">
                <a:solidFill>
                  <a:srgbClr val="475569"/>
                </a:solidFill>
                <a:latin typeface="Segoe UI"/>
              </a:defRPr>
            </a:pPr>
            <a:r>
              <a:t>Khám phá đồng tâm theo từng lớp khoảng cách bảo đảm đường đi ngắn nhất</a:t>
            </a:r>
          </a:p>
        </p:txBody>
      </p:sp>
      <p:sp>
        <p:nvSpPr>
          <p:cNvPr id="6" name="TextBox 5"/>
          <p:cNvSpPr txBox="1"/>
          <p:nvPr/>
        </p:nvSpPr>
        <p:spPr>
          <a:xfrm>
            <a:off x="731520" y="1645920"/>
            <a:ext cx="5852160" cy="4572000"/>
          </a:xfrm>
          <a:prstGeom prst="rect">
            <a:avLst/>
          </a:prstGeom>
          <a:noFill/>
        </p:spPr>
        <p:txBody>
          <a:bodyPr wrap="square">
            <a:spAutoFit/>
          </a:bodyPr>
          <a:lstStyle/>
          <a:p>
            <a:pPr>
              <a:defRPr sz="1300" b="1">
                <a:solidFill>
                  <a:srgbClr val="0284C7"/>
                </a:solidFill>
                <a:latin typeface="Segoe UI"/>
              </a:defRPr>
            </a:pPr>
            <a:r>
              <a:t>CƠ CHẾ HOẠT ĐỘNG &amp; ĐẶC TÍNH KỸ THUẬT</a:t>
            </a:r>
          </a:p>
          <a:p>
            <a:pPr>
              <a:spcBef>
                <a:spcPts val="800"/>
              </a:spcBef>
            </a:pPr>
            <a:r>
              <a:rPr sz="1100" b="1">
                <a:solidFill>
                  <a:srgbClr val="0F172A"/>
                </a:solidFill>
                <a:latin typeface="Segoe UI"/>
              </a:rPr>
              <a:t>■  Cấu trúc dữ liệu lõi: </a:t>
            </a:r>
            <a:r>
              <a:rPr sz="1100" b="0">
                <a:solidFill>
                  <a:srgbClr val="475569"/>
                </a:solidFill>
                <a:latin typeface="Segoe UI"/>
              </a:rPr>
              <a:t>Hàng đợi FIFO (First-In, First-Out). Nút mới được đưa vào đuôi bằng push(), nút cũ nhất ở đầu được lấy ra xử lý bằng shift().</a:t>
            </a:r>
          </a:p>
          <a:p>
            <a:pPr>
              <a:spcBef>
                <a:spcPts val="800"/>
              </a:spcBef>
            </a:pPr>
            <a:r>
              <a:rPr sz="1100" b="1">
                <a:solidFill>
                  <a:srgbClr val="0F172A"/>
                </a:solidFill>
                <a:latin typeface="Segoe UI"/>
              </a:rPr>
              <a:t>■  Quy luật duyệt: </a:t>
            </a:r>
            <a:r>
              <a:rPr sz="1100" b="0">
                <a:solidFill>
                  <a:srgbClr val="475569"/>
                </a:solidFill>
                <a:latin typeface="Segoe UI"/>
              </a:rPr>
              <a:t>Khám phá theo từng lớp đồng tâm (như sóng nước lan tỏa). Tất cả các nút ở khoảng cách k luôn được duyệt xong trước khi mở rộng nút ở khoảng cách k+1.</a:t>
            </a:r>
          </a:p>
          <a:p>
            <a:pPr>
              <a:spcBef>
                <a:spcPts val="800"/>
              </a:spcBef>
            </a:pPr>
            <a:r>
              <a:rPr sz="1100" b="1">
                <a:solidFill>
                  <a:srgbClr val="0F172A"/>
                </a:solidFill>
                <a:latin typeface="Segoe UI"/>
              </a:rPr>
              <a:t>■  Ưu điểm lớn nhất: </a:t>
            </a:r>
            <a:r>
              <a:rPr sz="1100" b="0">
                <a:solidFill>
                  <a:srgbClr val="475569"/>
                </a:solidFill>
                <a:latin typeface="Segoe UI"/>
              </a:rPr>
              <a:t>ĐẢM BẢO 100% TỐI ƯU NGẮN NHẤT khi chi phí bước c = 1. Đảm bảo tính đầy đủ nếu nghiệm tồn tại.</a:t>
            </a:r>
          </a:p>
          <a:p>
            <a:pPr>
              <a:spcBef>
                <a:spcPts val="800"/>
              </a:spcBef>
            </a:pPr>
            <a:r>
              <a:rPr sz="1100" b="1">
                <a:solidFill>
                  <a:srgbClr val="0F172A"/>
                </a:solidFill>
                <a:latin typeface="Segoe UI"/>
              </a:rPr>
              <a:t>■  Nhược điểm cốt tử: </a:t>
            </a:r>
            <a:r>
              <a:rPr sz="1100" b="0">
                <a:solidFill>
                  <a:srgbClr val="475569"/>
                </a:solidFill>
                <a:latin typeface="Segoe UI"/>
              </a:rPr>
              <a:t>Cực kỳ tốn bộ nhớ RAM! Cả độ phức tạp thời gian và không gian đều là O(b^d) (tăng theo cấp số nhân với b là hệ số rẽ nhánh, d là độ sâu).</a:t>
            </a:r>
          </a:p>
          <a:p>
            <a:pPr>
              <a:spcBef>
                <a:spcPts val="800"/>
              </a:spcBef>
            </a:pPr>
            <a:r>
              <a:rPr sz="1100" b="1">
                <a:solidFill>
                  <a:srgbClr val="0F172A"/>
                </a:solidFill>
                <a:latin typeface="Segoe UI"/>
              </a:rPr>
              <a:t>■  Tối ưu của nhóm: </a:t>
            </a:r>
            <a:r>
              <a:rPr sz="1100" b="0">
                <a:solidFill>
                  <a:srgbClr val="475569"/>
                </a:solidFill>
                <a:latin typeface="Segoe UI"/>
              </a:rPr>
              <a:t>Cài đặt Early Goal Check — kiểm tra đích ngay khi sinh nút kề giúp tiết kiệm 1 vòng lặp mở nút, đưa BFS cán đích nhanh hơn.</a:t>
            </a:r>
          </a:p>
        </p:txBody>
      </p:sp>
      <p:pic>
        <p:nvPicPr>
          <p:cNvPr id="7" name="Picture 6" descr="hinh_4_3_bfs_can_canh.png"/>
          <p:cNvPicPr>
            <a:picLocks noChangeAspect="1"/>
          </p:cNvPicPr>
          <p:nvPr/>
        </p:nvPicPr>
        <p:blipFill>
          <a:blip r:embed="rId2"/>
          <a:stretch>
            <a:fillRect/>
          </a:stretch>
        </p:blipFill>
        <p:spPr>
          <a:xfrm>
            <a:off x="6858000" y="1645920"/>
            <a:ext cx="4572000" cy="4114800"/>
          </a:xfrm>
          <a:prstGeom prst="rect">
            <a:avLst/>
          </a:prstGeom>
        </p:spPr>
      </p:pic>
      <p:sp>
        <p:nvSpPr>
          <p:cNvPr id="8" name="TextBox 7"/>
          <p:cNvSpPr txBox="1"/>
          <p:nvPr/>
        </p:nvSpPr>
        <p:spPr>
          <a:xfrm>
            <a:off x="6858000" y="5806440"/>
            <a:ext cx="4572000" cy="365760"/>
          </a:xfrm>
          <a:prstGeom prst="rect">
            <a:avLst/>
          </a:prstGeom>
          <a:noFill/>
        </p:spPr>
        <p:txBody>
          <a:bodyPr wrap="none">
            <a:spAutoFit/>
          </a:bodyPr>
          <a:lstStyle/>
          <a:p>
            <a:pPr algn="ctr">
              <a:defRPr sz="1000" i="1">
                <a:solidFill>
                  <a:srgbClr val="475569"/>
                </a:solidFill>
                <a:latin typeface="Segoe UI"/>
              </a:defRPr>
            </a:pPr>
            <a:r>
              <a:t>Hình 5.1: Vết sóng lan tỏa tròn đồng tâm của thuật toán BFS trên lưới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698480" cy="256032"/>
          </a:xfrm>
          <a:prstGeom prst="rect">
            <a:avLst/>
          </a:prstGeom>
          <a:noFill/>
        </p:spPr>
        <p:txBody>
          <a:bodyPr wrap="square" lIns="0" tIns="0" rIns="0" bIns="0">
            <a:spAutoFit/>
          </a:bodyPr>
          <a:lstStyle/>
          <a:p>
            <a:pPr>
              <a:defRPr sz="1000" b="1">
                <a:solidFill>
                  <a:srgbClr val="2563EB"/>
                </a:solidFill>
                <a:latin typeface="Segoe UI"/>
              </a:defRPr>
            </a:pPr>
            <a:r>
              <a:t>PHẦN 2.2 — THUẬT TOÁN TÌM KIẾM MÙ</a:t>
            </a:r>
          </a:p>
        </p:txBody>
      </p:sp>
      <p:sp>
        <p:nvSpPr>
          <p:cNvPr id="3" name="TextBox 2"/>
          <p:cNvSpPr txBox="1"/>
          <p:nvPr/>
        </p:nvSpPr>
        <p:spPr>
          <a:xfrm>
            <a:off x="731520" y="621792"/>
            <a:ext cx="10698480" cy="502920"/>
          </a:xfrm>
          <a:prstGeom prst="rect">
            <a:avLst/>
          </a:prstGeom>
          <a:noFill/>
        </p:spPr>
        <p:txBody>
          <a:bodyPr wrap="square" lIns="0" tIns="0" rIns="0" bIns="0">
            <a:spAutoFit/>
          </a:bodyPr>
          <a:lstStyle/>
          <a:p>
            <a:pPr>
              <a:defRPr sz="2100" b="1">
                <a:solidFill>
                  <a:srgbClr val="1E3A8A"/>
                </a:solidFill>
                <a:latin typeface="Segoe UI"/>
              </a:defRPr>
            </a:pPr>
            <a:r>
              <a:t>Thuật Toán DFS (Depth-First Search — Chiều Sâu)</a:t>
            </a:r>
          </a:p>
        </p:txBody>
      </p:sp>
      <p:sp>
        <p:nvSpPr>
          <p:cNvPr id="4" name="Rectangle 3"/>
          <p:cNvSpPr/>
          <p:nvPr/>
        </p:nvSpPr>
        <p:spPr>
          <a:xfrm>
            <a:off x="731520" y="1207008"/>
            <a:ext cx="1072865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280160"/>
            <a:ext cx="10698480" cy="274320"/>
          </a:xfrm>
          <a:prstGeom prst="rect">
            <a:avLst/>
          </a:prstGeom>
          <a:noFill/>
        </p:spPr>
        <p:txBody>
          <a:bodyPr wrap="square" lIns="0" tIns="0" rIns="0" bIns="0">
            <a:spAutoFit/>
          </a:bodyPr>
          <a:lstStyle/>
          <a:p>
            <a:pPr>
              <a:defRPr sz="1100" i="1">
                <a:solidFill>
                  <a:srgbClr val="475569"/>
                </a:solidFill>
                <a:latin typeface="Segoe UI"/>
              </a:defRPr>
            </a:pPr>
            <a:r>
              <a:t>Đâm sâu tối đa theo từng nhánh bằng Ngăn xếp LIFO Stack kết hợp quay lui</a:t>
            </a:r>
          </a:p>
        </p:txBody>
      </p:sp>
      <p:sp>
        <p:nvSpPr>
          <p:cNvPr id="6" name="TextBox 5"/>
          <p:cNvSpPr txBox="1"/>
          <p:nvPr/>
        </p:nvSpPr>
        <p:spPr>
          <a:xfrm>
            <a:off x="731520" y="1645920"/>
            <a:ext cx="5852160" cy="4572000"/>
          </a:xfrm>
          <a:prstGeom prst="rect">
            <a:avLst/>
          </a:prstGeom>
          <a:noFill/>
        </p:spPr>
        <p:txBody>
          <a:bodyPr wrap="square">
            <a:spAutoFit/>
          </a:bodyPr>
          <a:lstStyle/>
          <a:p>
            <a:pPr>
              <a:defRPr sz="1300" b="1">
                <a:solidFill>
                  <a:srgbClr val="D97706"/>
                </a:solidFill>
                <a:latin typeface="Segoe UI"/>
              </a:defRPr>
            </a:pPr>
            <a:r>
              <a:t>CƠ CHẾ HOẠT ĐỘNG &amp; ĐẶC TÍNH KỸ THUẬT</a:t>
            </a:r>
          </a:p>
          <a:p>
            <a:pPr>
              <a:spcBef>
                <a:spcPts val="800"/>
              </a:spcBef>
            </a:pPr>
            <a:r>
              <a:rPr sz="1100" b="1">
                <a:solidFill>
                  <a:srgbClr val="0F172A"/>
                </a:solidFill>
                <a:latin typeface="Segoe UI"/>
              </a:rPr>
              <a:t>■  Cấu trúc dữ liệu lõi: </a:t>
            </a:r>
            <a:r>
              <a:rPr sz="1100" b="0">
                <a:solidFill>
                  <a:srgbClr val="475569"/>
                </a:solidFill>
                <a:latin typeface="Segoe UI"/>
              </a:rPr>
              <a:t>Ngăn xếp LIFO (Last-In, First-Out). Đẩy nút mới vào đỉnh bằng push(), lấy nút ra xử lý từ đỉnh bằng pop().</a:t>
            </a:r>
          </a:p>
          <a:p>
            <a:pPr>
              <a:spcBef>
                <a:spcPts val="800"/>
              </a:spcBef>
            </a:pPr>
            <a:r>
              <a:rPr sz="1100" b="1">
                <a:solidFill>
                  <a:srgbClr val="0F172A"/>
                </a:solidFill>
                <a:latin typeface="Segoe UI"/>
              </a:rPr>
              <a:t>■  Quy luật duyệt: </a:t>
            </a:r>
            <a:r>
              <a:rPr sz="1100" b="0">
                <a:solidFill>
                  <a:srgbClr val="475569"/>
                </a:solidFill>
                <a:latin typeface="Segoe UI"/>
              </a:rPr>
              <a:t>Luôn đâm sâu tối đa theo nhánh vừa phát hiện; chỉ khi gặp ngõ cụt thì mới quay lui (Backtracking) để thử nhánh rẽ trước đó.</a:t>
            </a:r>
          </a:p>
          <a:p>
            <a:pPr>
              <a:spcBef>
                <a:spcPts val="800"/>
              </a:spcBef>
            </a:pPr>
            <a:r>
              <a:rPr sz="1100" b="1">
                <a:solidFill>
                  <a:srgbClr val="0F172A"/>
                </a:solidFill>
                <a:latin typeface="Segoe UI"/>
              </a:rPr>
              <a:t>■  Ưu điểm vượt trội: </a:t>
            </a:r>
            <a:r>
              <a:rPr sz="1100" b="0">
                <a:solidFill>
                  <a:srgbClr val="475569"/>
                </a:solidFill>
                <a:latin typeface="Segoe UI"/>
              </a:rPr>
              <a:t>VÔ CÙNG TIẾT KIỆM BỘ NHỚ RAM! Độ phức tạp không gian chỉ là TUYẾN TÍNH O(b · m), với m là độ sâu tối đa của cây tìm kiếm.</a:t>
            </a:r>
          </a:p>
          <a:p>
            <a:pPr>
              <a:spcBef>
                <a:spcPts val="800"/>
              </a:spcBef>
            </a:pPr>
            <a:r>
              <a:rPr sz="1100" b="1">
                <a:solidFill>
                  <a:srgbClr val="0F172A"/>
                </a:solidFill>
                <a:latin typeface="Segoe UI"/>
              </a:rPr>
              <a:t>■  Nhược điểm nghiêm trọng: </a:t>
            </a:r>
            <a:r>
              <a:rPr sz="1100" b="0">
                <a:solidFill>
                  <a:srgbClr val="475569"/>
                </a:solidFill>
                <a:latin typeface="Segoe UI"/>
              </a:rPr>
              <a:t>HOÀN TOÀN KHÔNG ĐẢM BẢO TÍNH TỐI ƯU. Đường đi tìm được thường quanh co, dài gấp 2–3 lần đường tối ưu do bị cuốn vào các nhánh cụt.</a:t>
            </a:r>
          </a:p>
          <a:p>
            <a:pPr>
              <a:spcBef>
                <a:spcPts val="800"/>
              </a:spcBef>
            </a:pPr>
            <a:r>
              <a:rPr sz="1100" b="1">
                <a:solidFill>
                  <a:srgbClr val="0F172A"/>
                </a:solidFill>
                <a:latin typeface="Segoe UI"/>
              </a:rPr>
              <a:t>■  Giải pháp kỹ thuật của nhóm: </a:t>
            </a:r>
            <a:r>
              <a:rPr sz="1100" b="0">
                <a:solidFill>
                  <a:srgbClr val="475569"/>
                </a:solidFill>
                <a:latin typeface="Segoe UI"/>
              </a:rPr>
              <a:t>Không dùng hàm đệ quy (tránh lỗi Call Stack Overflow trên bản đồ lớn); dùng cấu trúc mảng mô phỏng Stack an toàn trên Heap.</a:t>
            </a:r>
          </a:p>
        </p:txBody>
      </p:sp>
      <p:pic>
        <p:nvPicPr>
          <p:cNvPr id="7" name="Picture 6" descr="hinh_4_4_dfs_can_canh.png"/>
          <p:cNvPicPr>
            <a:picLocks noChangeAspect="1"/>
          </p:cNvPicPr>
          <p:nvPr/>
        </p:nvPicPr>
        <p:blipFill>
          <a:blip r:embed="rId2"/>
          <a:stretch>
            <a:fillRect/>
          </a:stretch>
        </p:blipFill>
        <p:spPr>
          <a:xfrm>
            <a:off x="6858000" y="1645920"/>
            <a:ext cx="4572000" cy="4114800"/>
          </a:xfrm>
          <a:prstGeom prst="rect">
            <a:avLst/>
          </a:prstGeom>
        </p:spPr>
      </p:pic>
      <p:sp>
        <p:nvSpPr>
          <p:cNvPr id="8" name="TextBox 7"/>
          <p:cNvSpPr txBox="1"/>
          <p:nvPr/>
        </p:nvSpPr>
        <p:spPr>
          <a:xfrm>
            <a:off x="6858000" y="5806440"/>
            <a:ext cx="4572000" cy="365760"/>
          </a:xfrm>
          <a:prstGeom prst="rect">
            <a:avLst/>
          </a:prstGeom>
          <a:noFill/>
        </p:spPr>
        <p:txBody>
          <a:bodyPr wrap="none">
            <a:spAutoFit/>
          </a:bodyPr>
          <a:lstStyle/>
          <a:p>
            <a:pPr algn="ctr">
              <a:defRPr sz="1000" i="1">
                <a:solidFill>
                  <a:srgbClr val="475569"/>
                </a:solidFill>
                <a:latin typeface="Segoe UI"/>
              </a:defRPr>
            </a:pPr>
            <a:r>
              <a:t>Hình 5.2: Nhánh tìm kiếm đâm sâu một hướng và đường đi quanh co của DFS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698480" cy="256032"/>
          </a:xfrm>
          <a:prstGeom prst="rect">
            <a:avLst/>
          </a:prstGeom>
          <a:noFill/>
        </p:spPr>
        <p:txBody>
          <a:bodyPr wrap="square" lIns="0" tIns="0" rIns="0" bIns="0">
            <a:spAutoFit/>
          </a:bodyPr>
          <a:lstStyle/>
          <a:p>
            <a:pPr>
              <a:defRPr sz="1000" b="1">
                <a:solidFill>
                  <a:srgbClr val="2563EB"/>
                </a:solidFill>
                <a:latin typeface="Segoe UI"/>
              </a:defRPr>
            </a:pPr>
            <a:r>
              <a:t>PHẦN 2.3 — THUẬT TOÁN CÓ TRI THỨC (INFORMED SEARCH)</a:t>
            </a:r>
          </a:p>
        </p:txBody>
      </p:sp>
      <p:sp>
        <p:nvSpPr>
          <p:cNvPr id="3" name="TextBox 2"/>
          <p:cNvSpPr txBox="1"/>
          <p:nvPr/>
        </p:nvSpPr>
        <p:spPr>
          <a:xfrm>
            <a:off x="731520" y="621792"/>
            <a:ext cx="10698480" cy="502920"/>
          </a:xfrm>
          <a:prstGeom prst="rect">
            <a:avLst/>
          </a:prstGeom>
          <a:noFill/>
        </p:spPr>
        <p:txBody>
          <a:bodyPr wrap="square" lIns="0" tIns="0" rIns="0" bIns="0">
            <a:spAutoFit/>
          </a:bodyPr>
          <a:lstStyle/>
          <a:p>
            <a:pPr>
              <a:defRPr sz="2100" b="1">
                <a:solidFill>
                  <a:srgbClr val="1E3A8A"/>
                </a:solidFill>
                <a:latin typeface="Segoe UI"/>
              </a:defRPr>
            </a:pPr>
            <a:r>
              <a:t>Thuật Toán A* (A-Star Heuristic Search)</a:t>
            </a:r>
          </a:p>
        </p:txBody>
      </p:sp>
      <p:sp>
        <p:nvSpPr>
          <p:cNvPr id="4" name="Rectangle 3"/>
          <p:cNvSpPr/>
          <p:nvPr/>
        </p:nvSpPr>
        <p:spPr>
          <a:xfrm>
            <a:off x="731520" y="1207008"/>
            <a:ext cx="1072865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280160"/>
            <a:ext cx="10698480" cy="274320"/>
          </a:xfrm>
          <a:prstGeom prst="rect">
            <a:avLst/>
          </a:prstGeom>
          <a:noFill/>
        </p:spPr>
        <p:txBody>
          <a:bodyPr wrap="square" lIns="0" tIns="0" rIns="0" bIns="0">
            <a:spAutoFit/>
          </a:bodyPr>
          <a:lstStyle/>
          <a:p>
            <a:pPr>
              <a:defRPr sz="1100" i="1">
                <a:solidFill>
                  <a:srgbClr val="475569"/>
                </a:solidFill>
                <a:latin typeface="Segoe UI"/>
              </a:defRPr>
            </a:pPr>
            <a:r>
              <a:t>Định hướng thông minh bằng hàm đánh giá f(n) = g(n) + h(n) và Min-Heap</a:t>
            </a:r>
          </a:p>
        </p:txBody>
      </p:sp>
      <p:sp>
        <p:nvSpPr>
          <p:cNvPr id="6" name="TextBox 5"/>
          <p:cNvSpPr txBox="1"/>
          <p:nvPr/>
        </p:nvSpPr>
        <p:spPr>
          <a:xfrm>
            <a:off x="731520" y="1645920"/>
            <a:ext cx="5852160" cy="4572000"/>
          </a:xfrm>
          <a:prstGeom prst="rect">
            <a:avLst/>
          </a:prstGeom>
          <a:noFill/>
        </p:spPr>
        <p:txBody>
          <a:bodyPr wrap="square">
            <a:spAutoFit/>
          </a:bodyPr>
          <a:lstStyle/>
          <a:p>
            <a:pPr>
              <a:defRPr sz="1300" b="1">
                <a:solidFill>
                  <a:srgbClr val="059669"/>
                </a:solidFill>
                <a:latin typeface="Segoe UI"/>
              </a:defRPr>
            </a:pPr>
            <a:r>
              <a:t>CƠ CHẾ HEURISTIC &amp; TÍNH TỐI ƯU TOÁN HỌC</a:t>
            </a:r>
          </a:p>
          <a:p>
            <a:pPr>
              <a:spcBef>
                <a:spcPts val="800"/>
              </a:spcBef>
            </a:pPr>
            <a:r>
              <a:rPr sz="1100" b="1">
                <a:solidFill>
                  <a:srgbClr val="0F172A"/>
                </a:solidFill>
                <a:latin typeface="Segoe UI"/>
              </a:rPr>
              <a:t>■  Hàm đánh giá f(n) = g(n) + h(n): </a:t>
            </a:r>
            <a:r>
              <a:rPr sz="1100" b="0">
                <a:solidFill>
                  <a:srgbClr val="475569"/>
                </a:solidFill>
                <a:latin typeface="Segoe UI"/>
              </a:rPr>
              <a:t>g(n) là chi phí thực tế đã đi từ Start tới nút n; h(n) là hàm Heuristic ước lượng khoảng cách còn lại từ n tới Goal.</a:t>
            </a:r>
          </a:p>
          <a:p>
            <a:pPr>
              <a:spcBef>
                <a:spcPts val="800"/>
              </a:spcBef>
            </a:pPr>
            <a:r>
              <a:rPr sz="1100" b="1">
                <a:solidFill>
                  <a:srgbClr val="0F172A"/>
                </a:solidFill>
                <a:latin typeface="Segoe UI"/>
              </a:rPr>
              <a:t>■  Hàm Heuristic Manhattan: </a:t>
            </a:r>
            <a:r>
              <a:rPr sz="1100" b="0">
                <a:solidFill>
                  <a:srgbClr val="475569"/>
                </a:solidFill>
                <a:latin typeface="Segoe UI"/>
              </a:rPr>
              <a:t>h(n) = |r_n - r_g| + |c_n - c_g|. Do lưới chỉ cho phép đi 4 hướng, đây là hàm chấp nhận được (Admissible: h(n) ≤ h*(n)) ⇒ BẢO ĐẢM A* LUÔN TỐI ƯU TUYỆT ĐỐI!</a:t>
            </a:r>
          </a:p>
          <a:p>
            <a:pPr>
              <a:spcBef>
                <a:spcPts val="800"/>
              </a:spcBef>
            </a:pPr>
            <a:r>
              <a:rPr sz="1100" b="1">
                <a:solidFill>
                  <a:srgbClr val="0F172A"/>
                </a:solidFill>
                <a:latin typeface="Segoe UI"/>
              </a:rPr>
              <a:t>■  Hàng đợi ưu tiên Min-Heap nhị phân: </a:t>
            </a:r>
            <a:r>
              <a:rPr sz="1100" b="0">
                <a:solidFill>
                  <a:srgbClr val="475569"/>
                </a:solidFill>
                <a:latin typeface="Segoe UI"/>
              </a:rPr>
              <a:t>Tự cài đặt cấu trúc MinHeap (_bubbleUp, _sinkDown) giúp lấy nút có f nhỏ nhất chỉ mất O(log N) thay vì O(N log N).</a:t>
            </a:r>
          </a:p>
          <a:p>
            <a:pPr>
              <a:spcBef>
                <a:spcPts val="800"/>
              </a:spcBef>
            </a:pPr>
            <a:r>
              <a:rPr sz="1100" b="1">
                <a:solidFill>
                  <a:srgbClr val="0F172A"/>
                </a:solidFill>
                <a:latin typeface="Segoe UI"/>
              </a:rPr>
              <a:t>■  Kỹ thuật Tie-Breaking thông minh: </a:t>
            </a:r>
            <a:r>
              <a:rPr sz="1100" b="0">
                <a:solidFill>
                  <a:srgbClr val="475569"/>
                </a:solidFill>
                <a:latin typeface="Segoe UI"/>
              </a:rPr>
              <a:t>Khi hai nút có cùng giá trị f(n), ưu tiên nút có h(n) nhỏ hơn (gần đích hơn), giúp chùm tia đâm thẳng về đích, không bị tản mát.</a:t>
            </a:r>
          </a:p>
          <a:p>
            <a:pPr>
              <a:spcBef>
                <a:spcPts val="800"/>
              </a:spcBef>
            </a:pPr>
            <a:r>
              <a:rPr sz="1100" b="1">
                <a:solidFill>
                  <a:srgbClr val="0F172A"/>
                </a:solidFill>
                <a:latin typeface="Segoe UI"/>
              </a:rPr>
              <a:t>■  Hiệu quả thực tế vượt trội: </a:t>
            </a:r>
            <a:r>
              <a:rPr sz="1100" b="0">
                <a:solidFill>
                  <a:srgbClr val="475569"/>
                </a:solidFill>
                <a:latin typeface="Segoe UI"/>
              </a:rPr>
              <a:t>Vẫn tìm được đường ngắn nhất y hệt BFS nhưng giảm từ 60% đến hơn 81% số ô duyệt thừa.</a:t>
            </a:r>
          </a:p>
        </p:txBody>
      </p:sp>
      <p:pic>
        <p:nvPicPr>
          <p:cNvPr id="7" name="Picture 6" descr="hinh_4_5_astar_can_canh.png"/>
          <p:cNvPicPr>
            <a:picLocks noChangeAspect="1"/>
          </p:cNvPicPr>
          <p:nvPr/>
        </p:nvPicPr>
        <p:blipFill>
          <a:blip r:embed="rId2"/>
          <a:stretch>
            <a:fillRect/>
          </a:stretch>
        </p:blipFill>
        <p:spPr>
          <a:xfrm>
            <a:off x="6858000" y="1645920"/>
            <a:ext cx="4572000" cy="4114800"/>
          </a:xfrm>
          <a:prstGeom prst="rect">
            <a:avLst/>
          </a:prstGeom>
        </p:spPr>
      </p:pic>
      <p:sp>
        <p:nvSpPr>
          <p:cNvPr id="8" name="TextBox 7"/>
          <p:cNvSpPr txBox="1"/>
          <p:nvPr/>
        </p:nvSpPr>
        <p:spPr>
          <a:xfrm>
            <a:off x="6858000" y="5806440"/>
            <a:ext cx="4572000" cy="365760"/>
          </a:xfrm>
          <a:prstGeom prst="rect">
            <a:avLst/>
          </a:prstGeom>
          <a:noFill/>
        </p:spPr>
        <p:txBody>
          <a:bodyPr wrap="none">
            <a:spAutoFit/>
          </a:bodyPr>
          <a:lstStyle/>
          <a:p>
            <a:pPr algn="ctr">
              <a:defRPr sz="1000" i="1">
                <a:solidFill>
                  <a:srgbClr val="475569"/>
                </a:solidFill>
                <a:latin typeface="Segoe UI"/>
              </a:defRPr>
            </a:pPr>
            <a:r>
              <a:t>Hình 5.3: Chùm tia tìm kiếm hội tụ hướng thẳng về đích của 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698480" cy="256032"/>
          </a:xfrm>
          <a:prstGeom prst="rect">
            <a:avLst/>
          </a:prstGeom>
          <a:noFill/>
        </p:spPr>
        <p:txBody>
          <a:bodyPr wrap="square" lIns="0" tIns="0" rIns="0" bIns="0">
            <a:spAutoFit/>
          </a:bodyPr>
          <a:lstStyle/>
          <a:p>
            <a:pPr>
              <a:defRPr sz="1000" b="1">
                <a:solidFill>
                  <a:srgbClr val="2563EB"/>
                </a:solidFill>
                <a:latin typeface="Segoe UI"/>
              </a:defRPr>
            </a:pPr>
            <a:r>
              <a:t>PHẦN 2 — TỔNG HỢP CƠ SỞ LÝ THUYẾT</a:t>
            </a:r>
          </a:p>
        </p:txBody>
      </p:sp>
      <p:sp>
        <p:nvSpPr>
          <p:cNvPr id="3" name="TextBox 2"/>
          <p:cNvSpPr txBox="1"/>
          <p:nvPr/>
        </p:nvSpPr>
        <p:spPr>
          <a:xfrm>
            <a:off x="731520" y="621792"/>
            <a:ext cx="10698480" cy="502920"/>
          </a:xfrm>
          <a:prstGeom prst="rect">
            <a:avLst/>
          </a:prstGeom>
          <a:noFill/>
        </p:spPr>
        <p:txBody>
          <a:bodyPr wrap="square" lIns="0" tIns="0" rIns="0" bIns="0">
            <a:spAutoFit/>
          </a:bodyPr>
          <a:lstStyle/>
          <a:p>
            <a:pPr>
              <a:defRPr sz="2100" b="1">
                <a:solidFill>
                  <a:srgbClr val="1E3A8A"/>
                </a:solidFill>
                <a:latin typeface="Segoe UI"/>
              </a:defRPr>
            </a:pPr>
            <a:r>
              <a:t>Bảng Đối Sánh Toàn Diện Giữa BFS, DFS Và A*</a:t>
            </a:r>
          </a:p>
        </p:txBody>
      </p:sp>
      <p:sp>
        <p:nvSpPr>
          <p:cNvPr id="4" name="Rectangle 3"/>
          <p:cNvSpPr/>
          <p:nvPr/>
        </p:nvSpPr>
        <p:spPr>
          <a:xfrm>
            <a:off x="731520" y="1207008"/>
            <a:ext cx="1072865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280160"/>
            <a:ext cx="10698480" cy="274320"/>
          </a:xfrm>
          <a:prstGeom prst="rect">
            <a:avLst/>
          </a:prstGeom>
          <a:noFill/>
        </p:spPr>
        <p:txBody>
          <a:bodyPr wrap="square" lIns="0" tIns="0" rIns="0" bIns="0">
            <a:spAutoFit/>
          </a:bodyPr>
          <a:lstStyle/>
          <a:p>
            <a:pPr>
              <a:defRPr sz="1100" i="1">
                <a:solidFill>
                  <a:srgbClr val="475569"/>
                </a:solidFill>
                <a:latin typeface="Segoe UI"/>
              </a:defRPr>
            </a:pPr>
            <a:r>
              <a:t>Tổng kết 6 tiêu chuẩn khoa học cốt lõi giữa tìm kiếm mù và tìm kiếm có tri thức</a:t>
            </a:r>
          </a:p>
        </p:txBody>
      </p:sp>
      <p:graphicFrame>
        <p:nvGraphicFramePr>
          <p:cNvPr id="6" name="Table 5"/>
          <p:cNvGraphicFramePr>
            <a:graphicFrameLocks noGrp="1"/>
          </p:cNvGraphicFramePr>
          <p:nvPr/>
        </p:nvGraphicFramePr>
        <p:xfrm>
          <a:off x="731520" y="1645920"/>
          <a:ext cx="10698480" cy="4480560"/>
        </p:xfrm>
        <a:graphic>
          <a:graphicData uri="http://schemas.openxmlformats.org/drawingml/2006/table">
            <a:tbl>
              <a:tblPr firstRow="1" bandRow="1">
                <a:tableStyleId>{5C22544A-7EE6-4342-B048-85BDC9FD1C3A}</a:tableStyleId>
              </a:tblPr>
              <a:tblGrid>
                <a:gridCol w="2468880"/>
                <a:gridCol w="2743200"/>
                <a:gridCol w="2743200"/>
                <a:gridCol w="2743200"/>
              </a:tblGrid>
              <a:tr h="640080">
                <a:tc>
                  <a:txBody>
                    <a:bodyPr/>
                    <a:lstStyle/>
                    <a:p>
                      <a:pPr algn="ctr">
                        <a:defRPr sz="1100" b="1">
                          <a:solidFill>
                            <a:srgbClr val="FFFFFF"/>
                          </a:solidFill>
                          <a:latin typeface="Segoe UI"/>
                        </a:defRPr>
                      </a:pPr>
                      <a:r>
                        <a:t>Tiêu Chí So Sánh</a:t>
                      </a:r>
                    </a:p>
                  </a:txBody>
                  <a:tcPr>
                    <a:solidFill>
                      <a:srgbClr val="1E3A8A"/>
                    </a:solidFill>
                  </a:tcPr>
                </a:tc>
                <a:tc>
                  <a:txBody>
                    <a:bodyPr/>
                    <a:lstStyle/>
                    <a:p>
                      <a:pPr algn="ctr">
                        <a:defRPr sz="1100" b="1">
                          <a:solidFill>
                            <a:srgbClr val="FFFFFF"/>
                          </a:solidFill>
                          <a:latin typeface="Segoe UI"/>
                        </a:defRPr>
                      </a:pPr>
                      <a:r>
                        <a:t>BFS (Breadth-First)</a:t>
                      </a:r>
                    </a:p>
                  </a:txBody>
                  <a:tcPr>
                    <a:solidFill>
                      <a:srgbClr val="1E3A8A"/>
                    </a:solidFill>
                  </a:tcPr>
                </a:tc>
                <a:tc>
                  <a:txBody>
                    <a:bodyPr/>
                    <a:lstStyle/>
                    <a:p>
                      <a:pPr algn="ctr">
                        <a:defRPr sz="1100" b="1">
                          <a:solidFill>
                            <a:srgbClr val="FFFFFF"/>
                          </a:solidFill>
                          <a:latin typeface="Segoe UI"/>
                        </a:defRPr>
                      </a:pPr>
                      <a:r>
                        <a:t>DFS (Depth-First)</a:t>
                      </a:r>
                    </a:p>
                  </a:txBody>
                  <a:tcPr>
                    <a:solidFill>
                      <a:srgbClr val="1E3A8A"/>
                    </a:solidFill>
                  </a:tcPr>
                </a:tc>
                <a:tc>
                  <a:txBody>
                    <a:bodyPr/>
                    <a:lstStyle/>
                    <a:p>
                      <a:pPr algn="ctr">
                        <a:defRPr sz="1100" b="1">
                          <a:solidFill>
                            <a:srgbClr val="FFFFFF"/>
                          </a:solidFill>
                          <a:latin typeface="Segoe UI"/>
                        </a:defRPr>
                      </a:pPr>
                      <a:r>
                        <a:t>A* (A-Star Heuristic)</a:t>
                      </a:r>
                    </a:p>
                  </a:txBody>
                  <a:tcPr>
                    <a:solidFill>
                      <a:srgbClr val="1E3A8A"/>
                    </a:solidFill>
                  </a:tcPr>
                </a:tc>
              </a:tr>
              <a:tr h="640080">
                <a:tc>
                  <a:txBody>
                    <a:bodyPr/>
                    <a:lstStyle/>
                    <a:p>
                      <a:pPr algn="l">
                        <a:defRPr sz="1000">
                          <a:solidFill>
                            <a:srgbClr val="0F172A"/>
                          </a:solidFill>
                          <a:latin typeface="Segoe UI"/>
                        </a:defRPr>
                      </a:pPr>
                      <a:r>
                        <a:t>Cấu trúc dữ liệu chính</a:t>
                      </a:r>
                    </a:p>
                  </a:txBody>
                  <a:tcPr>
                    <a:solidFill>
                      <a:srgbClr val="FFFFFF"/>
                    </a:solidFill>
                  </a:tcPr>
                </a:tc>
                <a:tc>
                  <a:txBody>
                    <a:bodyPr/>
                    <a:lstStyle/>
                    <a:p>
                      <a:pPr algn="l">
                        <a:defRPr sz="1000">
                          <a:solidFill>
                            <a:srgbClr val="0F172A"/>
                          </a:solidFill>
                          <a:latin typeface="Segoe UI"/>
                        </a:defRPr>
                      </a:pPr>
                      <a:r>
                        <a:t>Hàng đợi FIFO (Queue)</a:t>
                      </a:r>
                    </a:p>
                  </a:txBody>
                  <a:tcPr>
                    <a:solidFill>
                      <a:srgbClr val="FFFFFF"/>
                    </a:solidFill>
                  </a:tcPr>
                </a:tc>
                <a:tc>
                  <a:txBody>
                    <a:bodyPr/>
                    <a:lstStyle/>
                    <a:p>
                      <a:pPr algn="ctr">
                        <a:defRPr sz="1000">
                          <a:solidFill>
                            <a:srgbClr val="0F172A"/>
                          </a:solidFill>
                          <a:latin typeface="Segoe UI"/>
                        </a:defRPr>
                      </a:pPr>
                      <a:r>
                        <a:t>Ngăn xếp LIFO (Stack)</a:t>
                      </a:r>
                    </a:p>
                  </a:txBody>
                  <a:tcPr>
                    <a:solidFill>
                      <a:srgbClr val="FFFFFF"/>
                    </a:solidFill>
                  </a:tcPr>
                </a:tc>
                <a:tc>
                  <a:txBody>
                    <a:bodyPr/>
                    <a:lstStyle/>
                    <a:p>
                      <a:pPr algn="ctr">
                        <a:defRPr sz="1000">
                          <a:solidFill>
                            <a:srgbClr val="0F172A"/>
                          </a:solidFill>
                          <a:latin typeface="Segoe UI"/>
                        </a:defRPr>
                      </a:pPr>
                      <a:r>
                        <a:t>Hàng đợi ưu tiên (Min-Heap)</a:t>
                      </a:r>
                    </a:p>
                  </a:txBody>
                  <a:tcPr>
                    <a:solidFill>
                      <a:srgbClr val="FFFFFF"/>
                    </a:solidFill>
                  </a:tcPr>
                </a:tc>
              </a:tr>
              <a:tr h="640080">
                <a:tc>
                  <a:txBody>
                    <a:bodyPr/>
                    <a:lstStyle/>
                    <a:p>
                      <a:pPr algn="l">
                        <a:defRPr sz="1000">
                          <a:solidFill>
                            <a:srgbClr val="0F172A"/>
                          </a:solidFill>
                          <a:latin typeface="Segoe UI"/>
                        </a:defRPr>
                      </a:pPr>
                      <a:r>
                        <a:t>Chiến lược khám phá</a:t>
                      </a:r>
                    </a:p>
                  </a:txBody>
                  <a:tcPr>
                    <a:solidFill>
                      <a:srgbClr val="F5F7FA"/>
                    </a:solidFill>
                  </a:tcPr>
                </a:tc>
                <a:tc>
                  <a:txBody>
                    <a:bodyPr/>
                    <a:lstStyle/>
                    <a:p>
                      <a:pPr algn="l">
                        <a:defRPr sz="1000">
                          <a:solidFill>
                            <a:srgbClr val="0F172A"/>
                          </a:solidFill>
                          <a:latin typeface="Segoe UI"/>
                        </a:defRPr>
                      </a:pPr>
                      <a:r>
                        <a:t>Duyệt theo tầng khoảng cách (Sóng lan)</a:t>
                      </a:r>
                    </a:p>
                  </a:txBody>
                  <a:tcPr>
                    <a:solidFill>
                      <a:srgbClr val="F5F7FA"/>
                    </a:solidFill>
                  </a:tcPr>
                </a:tc>
                <a:tc>
                  <a:txBody>
                    <a:bodyPr/>
                    <a:lstStyle/>
                    <a:p>
                      <a:pPr algn="ctr">
                        <a:defRPr sz="1000">
                          <a:solidFill>
                            <a:srgbClr val="0F172A"/>
                          </a:solidFill>
                          <a:latin typeface="Segoe UI"/>
                        </a:defRPr>
                      </a:pPr>
                      <a:r>
                        <a:t>Đâm sâu tối đa một nhánh &amp; Quay lui</a:t>
                      </a:r>
                    </a:p>
                  </a:txBody>
                  <a:tcPr>
                    <a:solidFill>
                      <a:srgbClr val="F5F7FA"/>
                    </a:solidFill>
                  </a:tcPr>
                </a:tc>
                <a:tc>
                  <a:txBody>
                    <a:bodyPr/>
                    <a:lstStyle/>
                    <a:p>
                      <a:pPr algn="ctr">
                        <a:defRPr sz="1000">
                          <a:solidFill>
                            <a:srgbClr val="0F172A"/>
                          </a:solidFill>
                          <a:latin typeface="Segoe UI"/>
                        </a:defRPr>
                      </a:pPr>
                      <a:r>
                        <a:t>Định hướng thông minh: f(n) = g(n) + h(n)</a:t>
                      </a:r>
                    </a:p>
                  </a:txBody>
                  <a:tcPr>
                    <a:solidFill>
                      <a:srgbClr val="F5F7FA"/>
                    </a:solidFill>
                  </a:tcPr>
                </a:tc>
              </a:tr>
              <a:tr h="640080">
                <a:tc>
                  <a:txBody>
                    <a:bodyPr/>
                    <a:lstStyle/>
                    <a:p>
                      <a:pPr algn="l">
                        <a:defRPr sz="1000">
                          <a:solidFill>
                            <a:srgbClr val="0F172A"/>
                          </a:solidFill>
                          <a:latin typeface="Segoe UI"/>
                        </a:defRPr>
                      </a:pPr>
                      <a:r>
                        <a:t>Tính đầy đủ (Completeness)</a:t>
                      </a:r>
                    </a:p>
                  </a:txBody>
                  <a:tcPr>
                    <a:solidFill>
                      <a:srgbClr val="FFFFFF"/>
                    </a:solidFill>
                  </a:tcPr>
                </a:tc>
                <a:tc>
                  <a:txBody>
                    <a:bodyPr/>
                    <a:lstStyle/>
                    <a:p>
                      <a:pPr algn="l">
                        <a:defRPr sz="1000">
                          <a:solidFill>
                            <a:srgbClr val="0F172A"/>
                          </a:solidFill>
                          <a:latin typeface="Segoe UI"/>
                        </a:defRPr>
                      </a:pPr>
                      <a:r>
                        <a:t>Có (Luôn tìm ra nghiệm nếu tồn tại)</a:t>
                      </a:r>
                    </a:p>
                  </a:txBody>
                  <a:tcPr>
                    <a:solidFill>
                      <a:srgbClr val="FFFFFF"/>
                    </a:solidFill>
                  </a:tcPr>
                </a:tc>
                <a:tc>
                  <a:txBody>
                    <a:bodyPr/>
                    <a:lstStyle/>
                    <a:p>
                      <a:pPr algn="ctr">
                        <a:defRPr sz="1000">
                          <a:solidFill>
                            <a:srgbClr val="0F172A"/>
                          </a:solidFill>
                          <a:latin typeface="Segoe UI"/>
                        </a:defRPr>
                      </a:pPr>
                      <a:r>
                        <a:t>Có (Trong không gian hữu hạn)</a:t>
                      </a:r>
                    </a:p>
                  </a:txBody>
                  <a:tcPr>
                    <a:solidFill>
                      <a:srgbClr val="FFFFFF"/>
                    </a:solidFill>
                  </a:tcPr>
                </a:tc>
                <a:tc>
                  <a:txBody>
                    <a:bodyPr/>
                    <a:lstStyle/>
                    <a:p>
                      <a:pPr algn="ctr">
                        <a:defRPr sz="1000">
                          <a:solidFill>
                            <a:srgbClr val="0F172A"/>
                          </a:solidFill>
                          <a:latin typeface="Segoe UI"/>
                        </a:defRPr>
                      </a:pPr>
                      <a:r>
                        <a:t>Có (Luôn tìm ra nghiệm nếu tồn tại)</a:t>
                      </a:r>
                    </a:p>
                  </a:txBody>
                  <a:tcPr>
                    <a:solidFill>
                      <a:srgbClr val="FFFFFF"/>
                    </a:solidFill>
                  </a:tcPr>
                </a:tc>
              </a:tr>
              <a:tr h="640080">
                <a:tc>
                  <a:txBody>
                    <a:bodyPr/>
                    <a:lstStyle/>
                    <a:p>
                      <a:pPr algn="l">
                        <a:defRPr sz="1000">
                          <a:solidFill>
                            <a:srgbClr val="0F172A"/>
                          </a:solidFill>
                          <a:latin typeface="Segoe UI"/>
                        </a:defRPr>
                      </a:pPr>
                      <a:r>
                        <a:t>Tính tối ưu (Optimality)</a:t>
                      </a:r>
                    </a:p>
                  </a:txBody>
                  <a:tcPr>
                    <a:solidFill>
                      <a:srgbClr val="F5F7FA"/>
                    </a:solidFill>
                  </a:tcPr>
                </a:tc>
                <a:tc>
                  <a:txBody>
                    <a:bodyPr/>
                    <a:lstStyle/>
                    <a:p>
                      <a:pPr algn="l">
                        <a:defRPr sz="1000">
                          <a:solidFill>
                            <a:srgbClr val="0F172A"/>
                          </a:solidFill>
                          <a:latin typeface="Segoe UI"/>
                        </a:defRPr>
                      </a:pPr>
                      <a:r>
                        <a:t>TỐI ƯU TUYỆT ĐỐI (chi phí bước đồng nhất)</a:t>
                      </a:r>
                    </a:p>
                  </a:txBody>
                  <a:tcPr>
                    <a:solidFill>
                      <a:srgbClr val="F5F7FA"/>
                    </a:solidFill>
                  </a:tcPr>
                </a:tc>
                <a:tc>
                  <a:txBody>
                    <a:bodyPr/>
                    <a:lstStyle/>
                    <a:p>
                      <a:pPr algn="ctr">
                        <a:defRPr sz="1000">
                          <a:solidFill>
                            <a:srgbClr val="0F172A"/>
                          </a:solidFill>
                          <a:latin typeface="Segoe UI"/>
                        </a:defRPr>
                      </a:pPr>
                      <a:r>
                        <a:t>KHÔNG TỐI ƯU (Thường quanh co, rất dài)</a:t>
                      </a:r>
                    </a:p>
                  </a:txBody>
                  <a:tcPr>
                    <a:solidFill>
                      <a:srgbClr val="F5F7FA"/>
                    </a:solidFill>
                  </a:tcPr>
                </a:tc>
                <a:tc>
                  <a:txBody>
                    <a:bodyPr/>
                    <a:lstStyle/>
                    <a:p>
                      <a:pPr algn="ctr">
                        <a:defRPr sz="1000">
                          <a:solidFill>
                            <a:srgbClr val="0F172A"/>
                          </a:solidFill>
                          <a:latin typeface="Segoe UI"/>
                        </a:defRPr>
                      </a:pPr>
                      <a:r>
                        <a:t>TỐI ƯU TUYỆT ĐỐI (Heuristic Admissible)</a:t>
                      </a:r>
                    </a:p>
                  </a:txBody>
                  <a:tcPr>
                    <a:solidFill>
                      <a:srgbClr val="F5F7FA"/>
                    </a:solidFill>
                  </a:tcPr>
                </a:tc>
              </a:tr>
              <a:tr h="640080">
                <a:tc>
                  <a:txBody>
                    <a:bodyPr/>
                    <a:lstStyle/>
                    <a:p>
                      <a:pPr algn="l">
                        <a:defRPr sz="1000">
                          <a:solidFill>
                            <a:srgbClr val="0F172A"/>
                          </a:solidFill>
                          <a:latin typeface="Segoe UI"/>
                        </a:defRPr>
                      </a:pPr>
                      <a:r>
                        <a:t>Độ phức tạp thời gian</a:t>
                      </a:r>
                    </a:p>
                  </a:txBody>
                  <a:tcPr>
                    <a:solidFill>
                      <a:srgbClr val="FFFFFF"/>
                    </a:solidFill>
                  </a:tcPr>
                </a:tc>
                <a:tc>
                  <a:txBody>
                    <a:bodyPr/>
                    <a:lstStyle/>
                    <a:p>
                      <a:pPr algn="l">
                        <a:defRPr sz="1000">
                          <a:solidFill>
                            <a:srgbClr val="0F172A"/>
                          </a:solidFill>
                          <a:latin typeface="Segoe UI"/>
                        </a:defRPr>
                      </a:pPr>
                      <a:r>
                        <a:t>O(b^d) — Tăng theo cấp số nhân độ sâu</a:t>
                      </a:r>
                    </a:p>
                  </a:txBody>
                  <a:tcPr>
                    <a:solidFill>
                      <a:srgbClr val="FFFFFF"/>
                    </a:solidFill>
                  </a:tcPr>
                </a:tc>
                <a:tc>
                  <a:txBody>
                    <a:bodyPr/>
                    <a:lstStyle/>
                    <a:p>
                      <a:pPr algn="ctr">
                        <a:defRPr sz="1000">
                          <a:solidFill>
                            <a:srgbClr val="0F172A"/>
                          </a:solidFill>
                          <a:latin typeface="Segoe UI"/>
                        </a:defRPr>
                      </a:pPr>
                      <a:r>
                        <a:t>O(b^m) — Phụ thuộc độ sâu tối đa nhánh m</a:t>
                      </a:r>
                    </a:p>
                  </a:txBody>
                  <a:tcPr>
                    <a:solidFill>
                      <a:srgbClr val="FFFFFF"/>
                    </a:solidFill>
                  </a:tcPr>
                </a:tc>
                <a:tc>
                  <a:txBody>
                    <a:bodyPr/>
                    <a:lstStyle/>
                    <a:p>
                      <a:pPr algn="ctr">
                        <a:defRPr sz="1000">
                          <a:solidFill>
                            <a:srgbClr val="0F172A"/>
                          </a:solidFill>
                          <a:latin typeface="Segoe UI"/>
                        </a:defRPr>
                      </a:pPr>
                      <a:r>
                        <a:t>O(b^d) nhưng cắt tỉa thực tế cực kỳ mạnh</a:t>
                      </a:r>
                    </a:p>
                  </a:txBody>
                  <a:tcPr>
                    <a:solidFill>
                      <a:srgbClr val="FFFFFF"/>
                    </a:solidFill>
                  </a:tcPr>
                </a:tc>
              </a:tr>
              <a:tr h="640080">
                <a:tc>
                  <a:txBody>
                    <a:bodyPr/>
                    <a:lstStyle/>
                    <a:p>
                      <a:pPr algn="l">
                        <a:defRPr sz="1000">
                          <a:solidFill>
                            <a:srgbClr val="0F172A"/>
                          </a:solidFill>
                          <a:latin typeface="Segoe UI"/>
                        </a:defRPr>
                      </a:pPr>
                      <a:r>
                        <a:t>Độ phức tạp không gian (RAM)</a:t>
                      </a:r>
                    </a:p>
                  </a:txBody>
                  <a:tcPr>
                    <a:solidFill>
                      <a:srgbClr val="F5F7FA"/>
                    </a:solidFill>
                  </a:tcPr>
                </a:tc>
                <a:tc>
                  <a:txBody>
                    <a:bodyPr/>
                    <a:lstStyle/>
                    <a:p>
                      <a:pPr algn="l">
                        <a:defRPr sz="1000">
                          <a:solidFill>
                            <a:srgbClr val="0F172A"/>
                          </a:solidFill>
                          <a:latin typeface="Segoe UI"/>
                        </a:defRPr>
                      </a:pPr>
                      <a:r>
                        <a:t>O(b^d) — Rất tốn RAM (chứa cả mặt sóng)</a:t>
                      </a:r>
                    </a:p>
                  </a:txBody>
                  <a:tcPr>
                    <a:solidFill>
                      <a:srgbClr val="F5F7FA"/>
                    </a:solidFill>
                  </a:tcPr>
                </a:tc>
                <a:tc>
                  <a:txBody>
                    <a:bodyPr/>
                    <a:lstStyle/>
                    <a:p>
                      <a:pPr algn="ctr">
                        <a:defRPr sz="1000">
                          <a:solidFill>
                            <a:srgbClr val="0F172A"/>
                          </a:solidFill>
                          <a:latin typeface="Segoe UI"/>
                        </a:defRPr>
                      </a:pPr>
                      <a:r>
                        <a:t>O(b · m) — Vô địch về tiết kiệm bộ nhớ</a:t>
                      </a:r>
                    </a:p>
                  </a:txBody>
                  <a:tcPr>
                    <a:solidFill>
                      <a:srgbClr val="F5F7FA"/>
                    </a:solidFill>
                  </a:tcPr>
                </a:tc>
                <a:tc>
                  <a:txBody>
                    <a:bodyPr/>
                    <a:lstStyle/>
                    <a:p>
                      <a:pPr algn="ctr">
                        <a:defRPr sz="1000">
                          <a:solidFill>
                            <a:srgbClr val="0F172A"/>
                          </a:solidFill>
                          <a:latin typeface="Segoe UI"/>
                        </a:defRPr>
                      </a:pPr>
                      <a:r>
                        <a:t>Trung gian (Tập mở được định hướng tốt)</a:t>
                      </a:r>
                    </a:p>
                  </a:txBody>
                  <a:tcPr>
                    <a:solidFill>
                      <a:srgbClr val="F5F7FA"/>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698480" cy="256032"/>
          </a:xfrm>
          <a:prstGeom prst="rect">
            <a:avLst/>
          </a:prstGeom>
          <a:noFill/>
        </p:spPr>
        <p:txBody>
          <a:bodyPr wrap="square" lIns="0" tIns="0" rIns="0" bIns="0">
            <a:spAutoFit/>
          </a:bodyPr>
          <a:lstStyle/>
          <a:p>
            <a:pPr>
              <a:defRPr sz="1000" b="1">
                <a:solidFill>
                  <a:srgbClr val="2563EB"/>
                </a:solidFill>
                <a:latin typeface="Segoe UI"/>
              </a:defRPr>
            </a:pPr>
            <a:r>
              <a:t>PHẦN 3 — THỰC NGHIỆM ĐỐI SÁNH</a:t>
            </a:r>
          </a:p>
        </p:txBody>
      </p:sp>
      <p:sp>
        <p:nvSpPr>
          <p:cNvPr id="3" name="TextBox 2"/>
          <p:cNvSpPr txBox="1"/>
          <p:nvPr/>
        </p:nvSpPr>
        <p:spPr>
          <a:xfrm>
            <a:off x="731520" y="621792"/>
            <a:ext cx="10698480" cy="502920"/>
          </a:xfrm>
          <a:prstGeom prst="rect">
            <a:avLst/>
          </a:prstGeom>
          <a:noFill/>
        </p:spPr>
        <p:txBody>
          <a:bodyPr wrap="square" lIns="0" tIns="0" rIns="0" bIns="0">
            <a:spAutoFit/>
          </a:bodyPr>
          <a:lstStyle/>
          <a:p>
            <a:pPr>
              <a:defRPr sz="2100" b="1">
                <a:solidFill>
                  <a:srgbClr val="1E3A8A"/>
                </a:solidFill>
                <a:latin typeface="Segoe UI"/>
              </a:defRPr>
            </a:pPr>
            <a:r>
              <a:t>Thực Nghiệm Song Song Trên 4 Dạng Địa Hình</a:t>
            </a:r>
          </a:p>
        </p:txBody>
      </p:sp>
      <p:sp>
        <p:nvSpPr>
          <p:cNvPr id="4" name="Rectangle 3"/>
          <p:cNvSpPr/>
          <p:nvPr/>
        </p:nvSpPr>
        <p:spPr>
          <a:xfrm>
            <a:off x="731520" y="1207008"/>
            <a:ext cx="1072865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280160"/>
            <a:ext cx="10698480" cy="274320"/>
          </a:xfrm>
          <a:prstGeom prst="rect">
            <a:avLst/>
          </a:prstGeom>
          <a:noFill/>
        </p:spPr>
        <p:txBody>
          <a:bodyPr wrap="square" lIns="0" tIns="0" rIns="0" bIns="0">
            <a:spAutoFit/>
          </a:bodyPr>
          <a:lstStyle/>
          <a:p>
            <a:pPr>
              <a:defRPr sz="1100" i="1">
                <a:solidFill>
                  <a:srgbClr val="475569"/>
                </a:solidFill>
                <a:latin typeface="Segoe UI"/>
              </a:defRPr>
            </a:pPr>
            <a:r>
              <a:t>Minh chứng trực quan sự khác biệt giữa 3 thuật toán trên cùng một mê cung</a:t>
            </a:r>
          </a:p>
        </p:txBody>
      </p:sp>
      <p:pic>
        <p:nvPicPr>
          <p:cNvPr id="6" name="Picture 5" descr="hinh_5_1_thuc_nghiem_perfect_maze.png"/>
          <p:cNvPicPr>
            <a:picLocks noChangeAspect="1"/>
          </p:cNvPicPr>
          <p:nvPr/>
        </p:nvPicPr>
        <p:blipFill>
          <a:blip r:embed="rId2"/>
          <a:stretch>
            <a:fillRect/>
          </a:stretch>
        </p:blipFill>
        <p:spPr>
          <a:xfrm>
            <a:off x="731520" y="1645920"/>
            <a:ext cx="6583680" cy="4389120"/>
          </a:xfrm>
          <a:prstGeom prst="rect">
            <a:avLst/>
          </a:prstGeom>
        </p:spPr>
      </p:pic>
      <p:sp>
        <p:nvSpPr>
          <p:cNvPr id="7" name="TextBox 6"/>
          <p:cNvSpPr txBox="1"/>
          <p:nvPr/>
        </p:nvSpPr>
        <p:spPr>
          <a:xfrm>
            <a:off x="7498079" y="1645920"/>
            <a:ext cx="3931920" cy="4572000"/>
          </a:xfrm>
          <a:prstGeom prst="rect">
            <a:avLst/>
          </a:prstGeom>
          <a:noFill/>
        </p:spPr>
        <p:txBody>
          <a:bodyPr wrap="square">
            <a:spAutoFit/>
          </a:bodyPr>
          <a:lstStyle/>
          <a:p>
            <a:pPr>
              <a:defRPr sz="1300" b="1">
                <a:solidFill>
                  <a:srgbClr val="1E3A8A"/>
                </a:solidFill>
                <a:latin typeface="Segoe UI"/>
              </a:defRPr>
            </a:pPr>
            <a:r>
              <a:t>4 KỊCH BẢN THỬ NGHIỆM ĐẶC THÙ</a:t>
            </a:r>
          </a:p>
          <a:p>
            <a:pPr>
              <a:spcBef>
                <a:spcPts val="800"/>
              </a:spcBef>
            </a:pPr>
            <a:r>
              <a:rPr sz="1050" b="1">
                <a:solidFill>
                  <a:srgbClr val="0F172A"/>
                </a:solidFill>
                <a:latin typeface="Segoe UI"/>
              </a:rPr>
              <a:t>■  1. Bãi vật cản mở (21×21): </a:t>
            </a:r>
            <a:r>
              <a:rPr sz="1050" b="0">
                <a:solidFill>
                  <a:srgbClr val="475569"/>
                </a:solidFill>
                <a:latin typeface="Segoe UI"/>
              </a:rPr>
              <a:t>A* chỉ duyệt 55 ô trong khi BFS phải duyệt tới 290 ô mà vẫn cùng đạt đường tối ưu 37 bước ⇒ A* TIẾT KIỆM HƠN 81% SỐ Ô!</a:t>
            </a:r>
          </a:p>
          <a:p>
            <a:pPr>
              <a:spcBef>
                <a:spcPts val="800"/>
              </a:spcBef>
            </a:pPr>
            <a:r>
              <a:rPr sz="1050" b="1">
                <a:solidFill>
                  <a:srgbClr val="0F172A"/>
                </a:solidFill>
                <a:latin typeface="Segoe UI"/>
              </a:rPr>
              <a:t>■  2. Mê cung xoắn ốc (21×21): </a:t>
            </a:r>
            <a:r>
              <a:rPr sz="1050" b="0">
                <a:solidFill>
                  <a:srgbClr val="475569"/>
                </a:solidFill>
                <a:latin typeface="Segoe UI"/>
              </a:rPr>
              <a:t>DFS bị cuốn vào vòng xoắn dài, duyệt 194 ô và cho đường đi dài 25 bước (kém tối ưu so với 21 bước của BFS và A*).</a:t>
            </a:r>
          </a:p>
          <a:p>
            <a:pPr>
              <a:spcBef>
                <a:spcPts val="800"/>
              </a:spcBef>
            </a:pPr>
            <a:r>
              <a:rPr sz="1050" b="1">
                <a:solidFill>
                  <a:srgbClr val="0F172A"/>
                </a:solidFill>
                <a:latin typeface="Segoe UI"/>
              </a:rPr>
              <a:t>■  3. Mê cung hoàn hảo (15×15): </a:t>
            </a:r>
            <a:r>
              <a:rPr sz="1050" b="0">
                <a:solidFill>
                  <a:srgbClr val="475569"/>
                </a:solidFill>
                <a:latin typeface="Segoe UI"/>
              </a:rPr>
              <a:t>Cấu trúc cây khung đơn không chu trình, cả 3 thuật toán cùng tìm ra đường đi tối ưu 28 bước.</a:t>
            </a:r>
          </a:p>
          <a:p>
            <a:pPr>
              <a:spcBef>
                <a:spcPts val="800"/>
              </a:spcBef>
            </a:pPr>
            <a:r>
              <a:rPr sz="1050" b="1">
                <a:solidFill>
                  <a:srgbClr val="0F172A"/>
                </a:solidFill>
                <a:latin typeface="Segoe UI"/>
              </a:rPr>
              <a:t>■  4. Bẫy không lối thoát (No-Path): </a:t>
            </a:r>
            <a:r>
              <a:rPr sz="1050" b="0">
                <a:solidFill>
                  <a:srgbClr val="475569"/>
                </a:solidFill>
                <a:latin typeface="Segoe UI"/>
              </a:rPr>
              <a:t>Cả 3 thuật toán duyệt hết toàn bộ 308 ô thông và dừng an toàn, thông báo vô nghiệm chuẩn xác 100%.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698480" cy="256032"/>
          </a:xfrm>
          <a:prstGeom prst="rect">
            <a:avLst/>
          </a:prstGeom>
          <a:noFill/>
        </p:spPr>
        <p:txBody>
          <a:bodyPr wrap="square" lIns="0" tIns="0" rIns="0" bIns="0">
            <a:spAutoFit/>
          </a:bodyPr>
          <a:lstStyle/>
          <a:p>
            <a:pPr>
              <a:defRPr sz="1000" b="1">
                <a:solidFill>
                  <a:srgbClr val="2563EB"/>
                </a:solidFill>
                <a:latin typeface="Segoe UI"/>
              </a:defRPr>
            </a:pPr>
            <a:r>
              <a:t>PHẦN 3 — SỐ LIỆU THỰC TẾ</a:t>
            </a:r>
          </a:p>
        </p:txBody>
      </p:sp>
      <p:sp>
        <p:nvSpPr>
          <p:cNvPr id="3" name="TextBox 2"/>
          <p:cNvSpPr txBox="1"/>
          <p:nvPr/>
        </p:nvSpPr>
        <p:spPr>
          <a:xfrm>
            <a:off x="731520" y="621792"/>
            <a:ext cx="10698480" cy="502920"/>
          </a:xfrm>
          <a:prstGeom prst="rect">
            <a:avLst/>
          </a:prstGeom>
          <a:noFill/>
        </p:spPr>
        <p:txBody>
          <a:bodyPr wrap="square" lIns="0" tIns="0" rIns="0" bIns="0">
            <a:spAutoFit/>
          </a:bodyPr>
          <a:lstStyle/>
          <a:p>
            <a:pPr>
              <a:defRPr sz="2100" b="1">
                <a:solidFill>
                  <a:srgbClr val="1E3A8A"/>
                </a:solidFill>
                <a:latin typeface="Segoe UI"/>
              </a:defRPr>
            </a:pPr>
            <a:r>
              <a:t>Bảng Số Liệu KPI &amp; Biểu Đồ Hiệu Năng Thực Nghiệm</a:t>
            </a:r>
          </a:p>
        </p:txBody>
      </p:sp>
      <p:sp>
        <p:nvSpPr>
          <p:cNvPr id="4" name="Rectangle 3"/>
          <p:cNvSpPr/>
          <p:nvPr/>
        </p:nvSpPr>
        <p:spPr>
          <a:xfrm>
            <a:off x="731520" y="1207008"/>
            <a:ext cx="1072865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280160"/>
            <a:ext cx="10698480" cy="274320"/>
          </a:xfrm>
          <a:prstGeom prst="rect">
            <a:avLst/>
          </a:prstGeom>
          <a:noFill/>
        </p:spPr>
        <p:txBody>
          <a:bodyPr wrap="square" lIns="0" tIns="0" rIns="0" bIns="0">
            <a:spAutoFit/>
          </a:bodyPr>
          <a:lstStyle/>
          <a:p>
            <a:pPr>
              <a:defRPr sz="1100" i="1">
                <a:solidFill>
                  <a:srgbClr val="475569"/>
                </a:solidFill>
                <a:latin typeface="Segoe UI"/>
              </a:defRPr>
            </a:pPr>
            <a:r>
              <a:t>Dữ liệu đo đạc khách quan ghi nhận trực tiếp từ hệ thống trên lưới 21 × 21</a:t>
            </a:r>
          </a:p>
        </p:txBody>
      </p:sp>
      <p:graphicFrame>
        <p:nvGraphicFramePr>
          <p:cNvPr id="6" name="Table 5"/>
          <p:cNvGraphicFramePr>
            <a:graphicFrameLocks noGrp="1"/>
          </p:cNvGraphicFramePr>
          <p:nvPr/>
        </p:nvGraphicFramePr>
        <p:xfrm>
          <a:off x="731520" y="1645920"/>
          <a:ext cx="10698480" cy="1645920"/>
        </p:xfrm>
        <a:graphic>
          <a:graphicData uri="http://schemas.openxmlformats.org/drawingml/2006/table">
            <a:tbl>
              <a:tblPr firstRow="1" bandRow="1">
                <a:tableStyleId>{5C22544A-7EE6-4342-B048-85BDC9FD1C3A}</a:tableStyleId>
              </a:tblPr>
              <a:tblGrid>
                <a:gridCol w="2011680"/>
                <a:gridCol w="1645920"/>
                <a:gridCol w="1645920"/>
                <a:gridCol w="1828800"/>
                <a:gridCol w="1828800"/>
                <a:gridCol w="1737360"/>
              </a:tblGrid>
              <a:tr h="411480">
                <a:tc>
                  <a:txBody>
                    <a:bodyPr/>
                    <a:lstStyle/>
                    <a:p>
                      <a:pPr algn="ctr">
                        <a:defRPr sz="1100" b="1">
                          <a:solidFill>
                            <a:srgbClr val="FFFFFF"/>
                          </a:solidFill>
                          <a:latin typeface="Segoe UI"/>
                        </a:defRPr>
                      </a:pPr>
                      <a:r>
                        <a:t>Thuật Toán</a:t>
                      </a:r>
                    </a:p>
                  </a:txBody>
                  <a:tcPr>
                    <a:solidFill>
                      <a:srgbClr val="1E3A8A"/>
                    </a:solidFill>
                  </a:tcPr>
                </a:tc>
                <a:tc>
                  <a:txBody>
                    <a:bodyPr/>
                    <a:lstStyle/>
                    <a:p>
                      <a:pPr algn="ctr">
                        <a:defRPr sz="1100" b="1">
                          <a:solidFill>
                            <a:srgbClr val="FFFFFF"/>
                          </a:solidFill>
                          <a:latin typeface="Segoe UI"/>
                        </a:defRPr>
                      </a:pPr>
                      <a:r>
                        <a:t>Số Ô Đã Duyệt</a:t>
                      </a:r>
                    </a:p>
                  </a:txBody>
                  <a:tcPr>
                    <a:solidFill>
                      <a:srgbClr val="1E3A8A"/>
                    </a:solidFill>
                  </a:tcPr>
                </a:tc>
                <a:tc>
                  <a:txBody>
                    <a:bodyPr/>
                    <a:lstStyle/>
                    <a:p>
                      <a:pPr algn="ctr">
                        <a:defRPr sz="1100" b="1">
                          <a:solidFill>
                            <a:srgbClr val="FFFFFF"/>
                          </a:solidFill>
                          <a:latin typeface="Segoe UI"/>
                        </a:defRPr>
                      </a:pPr>
                      <a:r>
                        <a:t>Tỉ Lệ Khám Phá</a:t>
                      </a:r>
                    </a:p>
                  </a:txBody>
                  <a:tcPr>
                    <a:solidFill>
                      <a:srgbClr val="1E3A8A"/>
                    </a:solidFill>
                  </a:tcPr>
                </a:tc>
                <a:tc>
                  <a:txBody>
                    <a:bodyPr/>
                    <a:lstStyle/>
                    <a:p>
                      <a:pPr algn="ctr">
                        <a:defRPr sz="1100" b="1">
                          <a:solidFill>
                            <a:srgbClr val="FFFFFF"/>
                          </a:solidFill>
                          <a:latin typeface="Segoe UI"/>
                        </a:defRPr>
                      </a:pPr>
                      <a:r>
                        <a:t>Độ Dài Đường Đi</a:t>
                      </a:r>
                    </a:p>
                  </a:txBody>
                  <a:tcPr>
                    <a:solidFill>
                      <a:srgbClr val="1E3A8A"/>
                    </a:solidFill>
                  </a:tcPr>
                </a:tc>
                <a:tc>
                  <a:txBody>
                    <a:bodyPr/>
                    <a:lstStyle/>
                    <a:p>
                      <a:pPr algn="ctr">
                        <a:defRPr sz="1100" b="1">
                          <a:solidFill>
                            <a:srgbClr val="FFFFFF"/>
                          </a:solidFill>
                          <a:latin typeface="Segoe UI"/>
                        </a:defRPr>
                      </a:pPr>
                      <a:r>
                        <a:t>Bộ Nhớ Đỉnh RAM</a:t>
                      </a:r>
                    </a:p>
                  </a:txBody>
                  <a:tcPr>
                    <a:solidFill>
                      <a:srgbClr val="1E3A8A"/>
                    </a:solidFill>
                  </a:tcPr>
                </a:tc>
                <a:tc>
                  <a:txBody>
                    <a:bodyPr/>
                    <a:lstStyle/>
                    <a:p>
                      <a:pPr algn="ctr">
                        <a:defRPr sz="1100" b="1">
                          <a:solidFill>
                            <a:srgbClr val="FFFFFF"/>
                          </a:solidFill>
                          <a:latin typeface="Segoe UI"/>
                        </a:defRPr>
                      </a:pPr>
                      <a:r>
                        <a:t>Thời Gian Chạy</a:t>
                      </a:r>
                    </a:p>
                  </a:txBody>
                  <a:tcPr>
                    <a:solidFill>
                      <a:srgbClr val="1E3A8A"/>
                    </a:solidFill>
                  </a:tcPr>
                </a:tc>
              </a:tr>
              <a:tr h="411480">
                <a:tc>
                  <a:txBody>
                    <a:bodyPr/>
                    <a:lstStyle/>
                    <a:p>
                      <a:pPr algn="l">
                        <a:defRPr sz="1000">
                          <a:solidFill>
                            <a:srgbClr val="0F172A"/>
                          </a:solidFill>
                          <a:latin typeface="Segoe UI"/>
                        </a:defRPr>
                      </a:pPr>
                      <a:r>
                        <a:t>BFS (Chiều rộng)</a:t>
                      </a:r>
                    </a:p>
                  </a:txBody>
                  <a:tcPr>
                    <a:solidFill>
                      <a:srgbClr val="FFFFFF"/>
                    </a:solidFill>
                  </a:tcPr>
                </a:tc>
                <a:tc>
                  <a:txBody>
                    <a:bodyPr/>
                    <a:lstStyle/>
                    <a:p>
                      <a:pPr algn="l">
                        <a:defRPr sz="1000">
                          <a:solidFill>
                            <a:srgbClr val="0F172A"/>
                          </a:solidFill>
                          <a:latin typeface="Segoe UI"/>
                        </a:defRPr>
                      </a:pPr>
                      <a:r>
                        <a:t>290 ô</a:t>
                      </a:r>
                    </a:p>
                  </a:txBody>
                  <a:tcPr>
                    <a:solidFill>
                      <a:srgbClr val="FFFFFF"/>
                    </a:solidFill>
                  </a:tcPr>
                </a:tc>
                <a:tc>
                  <a:txBody>
                    <a:bodyPr/>
                    <a:lstStyle/>
                    <a:p>
                      <a:pPr algn="ctr">
                        <a:defRPr sz="1000">
                          <a:solidFill>
                            <a:srgbClr val="0F172A"/>
                          </a:solidFill>
                          <a:latin typeface="Segoe UI"/>
                        </a:defRPr>
                      </a:pPr>
                      <a:r>
                        <a:t>65.8% diện tích</a:t>
                      </a:r>
                    </a:p>
                  </a:txBody>
                  <a:tcPr>
                    <a:solidFill>
                      <a:srgbClr val="FFFFFF"/>
                    </a:solidFill>
                  </a:tcPr>
                </a:tc>
                <a:tc>
                  <a:txBody>
                    <a:bodyPr/>
                    <a:lstStyle/>
                    <a:p>
                      <a:pPr algn="ctr">
                        <a:defRPr sz="1000">
                          <a:solidFill>
                            <a:srgbClr val="0F172A"/>
                          </a:solidFill>
                          <a:latin typeface="Segoe UI"/>
                        </a:defRPr>
                      </a:pPr>
                      <a:r>
                        <a:t>37 bước (Tối ưu)</a:t>
                      </a:r>
                    </a:p>
                  </a:txBody>
                  <a:tcPr>
                    <a:solidFill>
                      <a:srgbClr val="FFFFFF"/>
                    </a:solidFill>
                  </a:tcPr>
                </a:tc>
                <a:tc>
                  <a:txBody>
                    <a:bodyPr/>
                    <a:lstStyle/>
                    <a:p>
                      <a:pPr algn="ctr">
                        <a:defRPr sz="1000">
                          <a:solidFill>
                            <a:srgbClr val="0F172A"/>
                          </a:solidFill>
                          <a:latin typeface="Segoe UI"/>
                        </a:defRPr>
                      </a:pPr>
                      <a:r>
                        <a:t>28 nút (Rất cao)</a:t>
                      </a:r>
                    </a:p>
                  </a:txBody>
                  <a:tcPr>
                    <a:solidFill>
                      <a:srgbClr val="FFFFFF"/>
                    </a:solidFill>
                  </a:tcPr>
                </a:tc>
                <a:tc>
                  <a:txBody>
                    <a:bodyPr/>
                    <a:lstStyle/>
                    <a:p>
                      <a:pPr algn="ctr">
                        <a:defRPr sz="1000">
                          <a:solidFill>
                            <a:srgbClr val="0F172A"/>
                          </a:solidFill>
                          <a:latin typeface="Segoe UI"/>
                        </a:defRPr>
                      </a:pPr>
                      <a:r>
                        <a:t>1.15 ms</a:t>
                      </a:r>
                    </a:p>
                  </a:txBody>
                  <a:tcPr>
                    <a:solidFill>
                      <a:srgbClr val="FFFFFF"/>
                    </a:solidFill>
                  </a:tcPr>
                </a:tc>
              </a:tr>
              <a:tr h="411480">
                <a:tc>
                  <a:txBody>
                    <a:bodyPr/>
                    <a:lstStyle/>
                    <a:p>
                      <a:pPr algn="l">
                        <a:defRPr sz="1000">
                          <a:solidFill>
                            <a:srgbClr val="0F172A"/>
                          </a:solidFill>
                          <a:latin typeface="Segoe UI"/>
                        </a:defRPr>
                      </a:pPr>
                      <a:r>
                        <a:t>DFS (Chiều sâu)</a:t>
                      </a:r>
                    </a:p>
                  </a:txBody>
                  <a:tcPr>
                    <a:solidFill>
                      <a:srgbClr val="F5F7FA"/>
                    </a:solidFill>
                  </a:tcPr>
                </a:tc>
                <a:tc>
                  <a:txBody>
                    <a:bodyPr/>
                    <a:lstStyle/>
                    <a:p>
                      <a:pPr algn="l">
                        <a:defRPr sz="1000">
                          <a:solidFill>
                            <a:srgbClr val="0F172A"/>
                          </a:solidFill>
                          <a:latin typeface="Segoe UI"/>
                        </a:defRPr>
                      </a:pPr>
                      <a:r>
                        <a:t>165 ô</a:t>
                      </a:r>
                    </a:p>
                  </a:txBody>
                  <a:tcPr>
                    <a:solidFill>
                      <a:srgbClr val="F5F7FA"/>
                    </a:solidFill>
                  </a:tcPr>
                </a:tc>
                <a:tc>
                  <a:txBody>
                    <a:bodyPr/>
                    <a:lstStyle/>
                    <a:p>
                      <a:pPr algn="ctr">
                        <a:defRPr sz="1000">
                          <a:solidFill>
                            <a:srgbClr val="0F172A"/>
                          </a:solidFill>
                          <a:latin typeface="Segoe UI"/>
                        </a:defRPr>
                      </a:pPr>
                      <a:r>
                        <a:t>37.4% diện tích</a:t>
                      </a:r>
                    </a:p>
                  </a:txBody>
                  <a:tcPr>
                    <a:solidFill>
                      <a:srgbClr val="F5F7FA"/>
                    </a:solidFill>
                  </a:tcPr>
                </a:tc>
                <a:tc>
                  <a:txBody>
                    <a:bodyPr/>
                    <a:lstStyle/>
                    <a:p>
                      <a:pPr algn="ctr">
                        <a:defRPr sz="1000">
                          <a:solidFill>
                            <a:srgbClr val="0F172A"/>
                          </a:solidFill>
                          <a:latin typeface="Segoe UI"/>
                        </a:defRPr>
                      </a:pPr>
                      <a:r>
                        <a:t>71 bước (Kém tối ưu)</a:t>
                      </a:r>
                    </a:p>
                  </a:txBody>
                  <a:tcPr>
                    <a:solidFill>
                      <a:srgbClr val="F5F7FA"/>
                    </a:solidFill>
                  </a:tcPr>
                </a:tc>
                <a:tc>
                  <a:txBody>
                    <a:bodyPr/>
                    <a:lstStyle/>
                    <a:p>
                      <a:pPr algn="ctr">
                        <a:defRPr sz="1000">
                          <a:solidFill>
                            <a:srgbClr val="0F172A"/>
                          </a:solidFill>
                          <a:latin typeface="Segoe UI"/>
                        </a:defRPr>
                      </a:pPr>
                      <a:r>
                        <a:t>14 nút (Tiết kiệm)</a:t>
                      </a:r>
                    </a:p>
                  </a:txBody>
                  <a:tcPr>
                    <a:solidFill>
                      <a:srgbClr val="F5F7FA"/>
                    </a:solidFill>
                  </a:tcPr>
                </a:tc>
                <a:tc>
                  <a:txBody>
                    <a:bodyPr/>
                    <a:lstStyle/>
                    <a:p>
                      <a:pPr algn="ctr">
                        <a:defRPr sz="1000">
                          <a:solidFill>
                            <a:srgbClr val="0F172A"/>
                          </a:solidFill>
                          <a:latin typeface="Segoe UI"/>
                        </a:defRPr>
                      </a:pPr>
                      <a:r>
                        <a:t>0.85 ms</a:t>
                      </a:r>
                    </a:p>
                  </a:txBody>
                  <a:tcPr>
                    <a:solidFill>
                      <a:srgbClr val="F5F7FA"/>
                    </a:solidFill>
                  </a:tcPr>
                </a:tc>
              </a:tr>
              <a:tr h="411480">
                <a:tc>
                  <a:txBody>
                    <a:bodyPr/>
                    <a:lstStyle/>
                    <a:p>
                      <a:pPr algn="l">
                        <a:defRPr sz="1000">
                          <a:solidFill>
                            <a:srgbClr val="0F172A"/>
                          </a:solidFill>
                          <a:latin typeface="Segoe UI"/>
                        </a:defRPr>
                      </a:pPr>
                      <a:r>
                        <a:t>A* (Heuristic Manhattan)</a:t>
                      </a:r>
                    </a:p>
                  </a:txBody>
                  <a:tcPr>
                    <a:solidFill>
                      <a:srgbClr val="FFFFFF"/>
                    </a:solidFill>
                  </a:tcPr>
                </a:tc>
                <a:tc>
                  <a:txBody>
                    <a:bodyPr/>
                    <a:lstStyle/>
                    <a:p>
                      <a:pPr algn="l">
                        <a:defRPr sz="1000">
                          <a:solidFill>
                            <a:srgbClr val="0F172A"/>
                          </a:solidFill>
                          <a:latin typeface="Segoe UI"/>
                        </a:defRPr>
                      </a:pPr>
                      <a:r>
                        <a:t>55 ô</a:t>
                      </a:r>
                    </a:p>
                  </a:txBody>
                  <a:tcPr>
                    <a:solidFill>
                      <a:srgbClr val="FFFFFF"/>
                    </a:solidFill>
                  </a:tcPr>
                </a:tc>
                <a:tc>
                  <a:txBody>
                    <a:bodyPr/>
                    <a:lstStyle/>
                    <a:p>
                      <a:pPr algn="ctr">
                        <a:defRPr sz="1000">
                          <a:solidFill>
                            <a:srgbClr val="0F172A"/>
                          </a:solidFill>
                          <a:latin typeface="Segoe UI"/>
                        </a:defRPr>
                      </a:pPr>
                      <a:r>
                        <a:t>12.5% diện tích</a:t>
                      </a:r>
                    </a:p>
                  </a:txBody>
                  <a:tcPr>
                    <a:solidFill>
                      <a:srgbClr val="FFFFFF"/>
                    </a:solidFill>
                  </a:tcPr>
                </a:tc>
                <a:tc>
                  <a:txBody>
                    <a:bodyPr/>
                    <a:lstStyle/>
                    <a:p>
                      <a:pPr algn="ctr">
                        <a:defRPr sz="1000">
                          <a:solidFill>
                            <a:srgbClr val="0F172A"/>
                          </a:solidFill>
                          <a:latin typeface="Segoe UI"/>
                        </a:defRPr>
                      </a:pPr>
                      <a:r>
                        <a:t>37 bước (Tối ưu)</a:t>
                      </a:r>
                    </a:p>
                  </a:txBody>
                  <a:tcPr>
                    <a:solidFill>
                      <a:srgbClr val="FFFFFF"/>
                    </a:solidFill>
                  </a:tcPr>
                </a:tc>
                <a:tc>
                  <a:txBody>
                    <a:bodyPr/>
                    <a:lstStyle/>
                    <a:p>
                      <a:pPr algn="ctr">
                        <a:defRPr sz="1000">
                          <a:solidFill>
                            <a:srgbClr val="0F172A"/>
                          </a:solidFill>
                          <a:latin typeface="Segoe UI"/>
                        </a:defRPr>
                      </a:pPr>
                      <a:r>
                        <a:t>16 nút (Ổn định)</a:t>
                      </a:r>
                    </a:p>
                  </a:txBody>
                  <a:tcPr>
                    <a:solidFill>
                      <a:srgbClr val="FFFFFF"/>
                    </a:solidFill>
                  </a:tcPr>
                </a:tc>
                <a:tc>
                  <a:txBody>
                    <a:bodyPr/>
                    <a:lstStyle/>
                    <a:p>
                      <a:pPr algn="ctr">
                        <a:defRPr sz="1000">
                          <a:solidFill>
                            <a:srgbClr val="0F172A"/>
                          </a:solidFill>
                          <a:latin typeface="Segoe UI"/>
                        </a:defRPr>
                      </a:pPr>
                      <a:r>
                        <a:t>0.92 ms</a:t>
                      </a:r>
                    </a:p>
                  </a:txBody>
                  <a:tcPr>
                    <a:solidFill>
                      <a:srgbClr val="FFFFFF"/>
                    </a:solidFill>
                  </a:tcPr>
                </a:tc>
              </a:tr>
            </a:tbl>
          </a:graphicData>
        </a:graphic>
      </p:graphicFrame>
      <p:pic>
        <p:nvPicPr>
          <p:cNvPr id="7" name="Picture 6" descr="bieu_do_kpi_crop.png"/>
          <p:cNvPicPr>
            <a:picLocks noChangeAspect="1"/>
          </p:cNvPicPr>
          <p:nvPr/>
        </p:nvPicPr>
        <p:blipFill>
          <a:blip r:embed="rId2"/>
          <a:stretch>
            <a:fillRect/>
          </a:stretch>
        </p:blipFill>
        <p:spPr>
          <a:xfrm>
            <a:off x="731520" y="3657600"/>
            <a:ext cx="10698480" cy="265176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698480" cy="256032"/>
          </a:xfrm>
          <a:prstGeom prst="rect">
            <a:avLst/>
          </a:prstGeom>
          <a:noFill/>
        </p:spPr>
        <p:txBody>
          <a:bodyPr wrap="square" lIns="0" tIns="0" rIns="0" bIns="0">
            <a:spAutoFit/>
          </a:bodyPr>
          <a:lstStyle/>
          <a:p>
            <a:pPr>
              <a:defRPr sz="1000" b="1">
                <a:solidFill>
                  <a:srgbClr val="2563EB"/>
                </a:solidFill>
                <a:latin typeface="Segoe UI"/>
              </a:defRPr>
            </a:pPr>
            <a:r>
              <a:t>PHẦN 3 — ĐÁNH GIÁ CHUYÊN SÂU</a:t>
            </a:r>
          </a:p>
        </p:txBody>
      </p:sp>
      <p:sp>
        <p:nvSpPr>
          <p:cNvPr id="3" name="TextBox 2"/>
          <p:cNvSpPr txBox="1"/>
          <p:nvPr/>
        </p:nvSpPr>
        <p:spPr>
          <a:xfrm>
            <a:off x="731520" y="621792"/>
            <a:ext cx="10698480" cy="502920"/>
          </a:xfrm>
          <a:prstGeom prst="rect">
            <a:avLst/>
          </a:prstGeom>
          <a:noFill/>
        </p:spPr>
        <p:txBody>
          <a:bodyPr wrap="square" lIns="0" tIns="0" rIns="0" bIns="0">
            <a:spAutoFit/>
          </a:bodyPr>
          <a:lstStyle/>
          <a:p>
            <a:pPr>
              <a:defRPr sz="2100" b="1">
                <a:solidFill>
                  <a:srgbClr val="1E3A8A"/>
                </a:solidFill>
                <a:latin typeface="Segoe UI"/>
              </a:defRPr>
            </a:pPr>
            <a:r>
              <a:t>Đánh Giá 3 Thuật Toán Theo 4 Tiêu Chuẩn Kinh Điển Của AI</a:t>
            </a:r>
          </a:p>
        </p:txBody>
      </p:sp>
      <p:sp>
        <p:nvSpPr>
          <p:cNvPr id="4" name="Rectangle 3"/>
          <p:cNvSpPr/>
          <p:nvPr/>
        </p:nvSpPr>
        <p:spPr>
          <a:xfrm>
            <a:off x="731520" y="1207008"/>
            <a:ext cx="1072865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280160"/>
            <a:ext cx="10698480" cy="274320"/>
          </a:xfrm>
          <a:prstGeom prst="rect">
            <a:avLst/>
          </a:prstGeom>
          <a:noFill/>
        </p:spPr>
        <p:txBody>
          <a:bodyPr wrap="square" lIns="0" tIns="0" rIns="0" bIns="0">
            <a:spAutoFit/>
          </a:bodyPr>
          <a:lstStyle/>
          <a:p>
            <a:pPr>
              <a:defRPr sz="1100" i="1">
                <a:solidFill>
                  <a:srgbClr val="475569"/>
                </a:solidFill>
                <a:latin typeface="Segoe UI"/>
              </a:defRPr>
            </a:pPr>
            <a:r>
              <a:t>Khẳng định bản chất khoa học giữa lý thuyết hàn lâm và kết quả đo đạc thực nghiệm</a:t>
            </a:r>
          </a:p>
        </p:txBody>
      </p:sp>
      <p:graphicFrame>
        <p:nvGraphicFramePr>
          <p:cNvPr id="6" name="Table 5"/>
          <p:cNvGraphicFramePr>
            <a:graphicFrameLocks noGrp="1"/>
          </p:cNvGraphicFramePr>
          <p:nvPr/>
        </p:nvGraphicFramePr>
        <p:xfrm>
          <a:off x="731520" y="1645920"/>
          <a:ext cx="10698480" cy="4480560"/>
        </p:xfrm>
        <a:graphic>
          <a:graphicData uri="http://schemas.openxmlformats.org/drawingml/2006/table">
            <a:tbl>
              <a:tblPr firstRow="1" bandRow="1">
                <a:tableStyleId>{5C22544A-7EE6-4342-B048-85BDC9FD1C3A}</a:tableStyleId>
              </a:tblPr>
              <a:tblGrid>
                <a:gridCol w="2011680"/>
                <a:gridCol w="2103120"/>
                <a:gridCol w="2103120"/>
                <a:gridCol w="2194560"/>
                <a:gridCol w="2286000"/>
              </a:tblGrid>
              <a:tr h="896112">
                <a:tc>
                  <a:txBody>
                    <a:bodyPr/>
                    <a:lstStyle/>
                    <a:p>
                      <a:pPr algn="ctr">
                        <a:defRPr sz="1100" b="1">
                          <a:solidFill>
                            <a:srgbClr val="FFFFFF"/>
                          </a:solidFill>
                          <a:latin typeface="Segoe UI"/>
                        </a:defRPr>
                      </a:pPr>
                      <a:r>
                        <a:t>Tiêu Chuẩn AI</a:t>
                      </a:r>
                    </a:p>
                  </a:txBody>
                  <a:tcPr>
                    <a:solidFill>
                      <a:srgbClr val="1E3A8A"/>
                    </a:solidFill>
                  </a:tcPr>
                </a:tc>
                <a:tc>
                  <a:txBody>
                    <a:bodyPr/>
                    <a:lstStyle/>
                    <a:p>
                      <a:pPr algn="ctr">
                        <a:defRPr sz="1100" b="1">
                          <a:solidFill>
                            <a:srgbClr val="FFFFFF"/>
                          </a:solidFill>
                          <a:latin typeface="Segoe UI"/>
                        </a:defRPr>
                      </a:pPr>
                      <a:r>
                        <a:t>Thuật Toán BFS</a:t>
                      </a:r>
                    </a:p>
                  </a:txBody>
                  <a:tcPr>
                    <a:solidFill>
                      <a:srgbClr val="1E3A8A"/>
                    </a:solidFill>
                  </a:tcPr>
                </a:tc>
                <a:tc>
                  <a:txBody>
                    <a:bodyPr/>
                    <a:lstStyle/>
                    <a:p>
                      <a:pPr algn="ctr">
                        <a:defRPr sz="1100" b="1">
                          <a:solidFill>
                            <a:srgbClr val="FFFFFF"/>
                          </a:solidFill>
                          <a:latin typeface="Segoe UI"/>
                        </a:defRPr>
                      </a:pPr>
                      <a:r>
                        <a:t>Thuật Toán DFS</a:t>
                      </a:r>
                    </a:p>
                  </a:txBody>
                  <a:tcPr>
                    <a:solidFill>
                      <a:srgbClr val="1E3A8A"/>
                    </a:solidFill>
                  </a:tcPr>
                </a:tc>
                <a:tc>
                  <a:txBody>
                    <a:bodyPr/>
                    <a:lstStyle/>
                    <a:p>
                      <a:pPr algn="ctr">
                        <a:defRPr sz="1100" b="1">
                          <a:solidFill>
                            <a:srgbClr val="FFFFFF"/>
                          </a:solidFill>
                          <a:latin typeface="Segoe UI"/>
                        </a:defRPr>
                      </a:pPr>
                      <a:r>
                        <a:t>Thuật Toán A* (Manhattan)</a:t>
                      </a:r>
                    </a:p>
                  </a:txBody>
                  <a:tcPr>
                    <a:solidFill>
                      <a:srgbClr val="1E3A8A"/>
                    </a:solidFill>
                  </a:tcPr>
                </a:tc>
                <a:tc>
                  <a:txBody>
                    <a:bodyPr/>
                    <a:lstStyle/>
                    <a:p>
                      <a:pPr algn="ctr">
                        <a:defRPr sz="1100" b="1">
                          <a:solidFill>
                            <a:srgbClr val="FFFFFF"/>
                          </a:solidFill>
                          <a:latin typeface="Segoe UI"/>
                        </a:defRPr>
                      </a:pPr>
                      <a:r>
                        <a:t>Kết Luận Khoa Học</a:t>
                      </a:r>
                    </a:p>
                  </a:txBody>
                  <a:tcPr>
                    <a:solidFill>
                      <a:srgbClr val="1E3A8A"/>
                    </a:solidFill>
                  </a:tcPr>
                </a:tc>
              </a:tr>
              <a:tr h="896112">
                <a:tc>
                  <a:txBody>
                    <a:bodyPr/>
                    <a:lstStyle/>
                    <a:p>
                      <a:pPr algn="l">
                        <a:defRPr sz="1000">
                          <a:solidFill>
                            <a:srgbClr val="0F172A"/>
                          </a:solidFill>
                          <a:latin typeface="Segoe UI"/>
                        </a:defRPr>
                      </a:pPr>
                      <a:r>
                        <a:t>1. Tính Đầy Đủ (Completeness)</a:t>
                      </a:r>
                    </a:p>
                  </a:txBody>
                  <a:tcPr>
                    <a:solidFill>
                      <a:srgbClr val="FFFFFF"/>
                    </a:solidFill>
                  </a:tcPr>
                </a:tc>
                <a:tc>
                  <a:txBody>
                    <a:bodyPr/>
                    <a:lstStyle/>
                    <a:p>
                      <a:pPr algn="l">
                        <a:defRPr sz="1000">
                          <a:solidFill>
                            <a:srgbClr val="0F172A"/>
                          </a:solidFill>
                          <a:latin typeface="Segoe UI"/>
                        </a:defRPr>
                      </a:pPr>
                      <a:r>
                        <a:t>CÓ (Đảm bảo tìm ra nghiệm)</a:t>
                      </a:r>
                    </a:p>
                  </a:txBody>
                  <a:tcPr>
                    <a:solidFill>
                      <a:srgbClr val="FFFFFF"/>
                    </a:solidFill>
                  </a:tcPr>
                </a:tc>
                <a:tc>
                  <a:txBody>
                    <a:bodyPr/>
                    <a:lstStyle/>
                    <a:p>
                      <a:pPr algn="ctr">
                        <a:defRPr sz="1000">
                          <a:solidFill>
                            <a:srgbClr val="0F172A"/>
                          </a:solidFill>
                          <a:latin typeface="Segoe UI"/>
                        </a:defRPr>
                      </a:pPr>
                      <a:r>
                        <a:t>CÓ (Trong không gian hữu hạn)</a:t>
                      </a:r>
                    </a:p>
                  </a:txBody>
                  <a:tcPr>
                    <a:solidFill>
                      <a:srgbClr val="FFFFFF"/>
                    </a:solidFill>
                  </a:tcPr>
                </a:tc>
                <a:tc>
                  <a:txBody>
                    <a:bodyPr/>
                    <a:lstStyle/>
                    <a:p>
                      <a:pPr algn="ctr">
                        <a:defRPr sz="1000">
                          <a:solidFill>
                            <a:srgbClr val="0F172A"/>
                          </a:solidFill>
                          <a:latin typeface="Segoe UI"/>
                        </a:defRPr>
                      </a:pPr>
                      <a:r>
                        <a:t>CÓ (Đảm bảo tìm ra nghiệm)</a:t>
                      </a:r>
                    </a:p>
                  </a:txBody>
                  <a:tcPr>
                    <a:solidFill>
                      <a:srgbClr val="FFFFFF"/>
                    </a:solidFill>
                  </a:tcPr>
                </a:tc>
                <a:tc>
                  <a:txBody>
                    <a:bodyPr/>
                    <a:lstStyle/>
                    <a:p>
                      <a:pPr algn="ctr">
                        <a:defRPr sz="1000">
                          <a:solidFill>
                            <a:srgbClr val="0F172A"/>
                          </a:solidFill>
                          <a:latin typeface="Segoe UI"/>
                        </a:defRPr>
                      </a:pPr>
                      <a:r>
                        <a:t>Cả 3 đều tìm được nghiệm và dừng an toàn khi vô nghiệm.</a:t>
                      </a:r>
                    </a:p>
                  </a:txBody>
                  <a:tcPr>
                    <a:solidFill>
                      <a:srgbClr val="FFFFFF"/>
                    </a:solidFill>
                  </a:tcPr>
                </a:tc>
              </a:tr>
              <a:tr h="896112">
                <a:tc>
                  <a:txBody>
                    <a:bodyPr/>
                    <a:lstStyle/>
                    <a:p>
                      <a:pPr algn="l">
                        <a:defRPr sz="1000">
                          <a:solidFill>
                            <a:srgbClr val="0F172A"/>
                          </a:solidFill>
                          <a:latin typeface="Segoe UI"/>
                        </a:defRPr>
                      </a:pPr>
                      <a:r>
                        <a:t>2. Tính Tối Ưu (Optimality)</a:t>
                      </a:r>
                    </a:p>
                  </a:txBody>
                  <a:tcPr>
                    <a:solidFill>
                      <a:srgbClr val="F5F7FA"/>
                    </a:solidFill>
                  </a:tcPr>
                </a:tc>
                <a:tc>
                  <a:txBody>
                    <a:bodyPr/>
                    <a:lstStyle/>
                    <a:p>
                      <a:pPr algn="l">
                        <a:defRPr sz="1000">
                          <a:solidFill>
                            <a:srgbClr val="0F172A"/>
                          </a:solidFill>
                          <a:latin typeface="Segoe UI"/>
                        </a:defRPr>
                      </a:pPr>
                      <a:r>
                        <a:t>TỐI ƯU TUYỆT ĐỐI (chi phí bước c=1)</a:t>
                      </a:r>
                    </a:p>
                  </a:txBody>
                  <a:tcPr>
                    <a:solidFill>
                      <a:srgbClr val="F5F7FA"/>
                    </a:solidFill>
                  </a:tcPr>
                </a:tc>
                <a:tc>
                  <a:txBody>
                    <a:bodyPr/>
                    <a:lstStyle/>
                    <a:p>
                      <a:pPr algn="ctr">
                        <a:defRPr sz="1000">
                          <a:solidFill>
                            <a:srgbClr val="0F172A"/>
                          </a:solidFill>
                          <a:latin typeface="Segoe UI"/>
                        </a:defRPr>
                      </a:pPr>
                      <a:r>
                        <a:t>KHÔNG TỐI ƯU (Đường quanh co)</a:t>
                      </a:r>
                    </a:p>
                  </a:txBody>
                  <a:tcPr>
                    <a:solidFill>
                      <a:srgbClr val="F5F7FA"/>
                    </a:solidFill>
                  </a:tcPr>
                </a:tc>
                <a:tc>
                  <a:txBody>
                    <a:bodyPr/>
                    <a:lstStyle/>
                    <a:p>
                      <a:pPr algn="ctr">
                        <a:defRPr sz="1000">
                          <a:solidFill>
                            <a:srgbClr val="0F172A"/>
                          </a:solidFill>
                          <a:latin typeface="Segoe UI"/>
                        </a:defRPr>
                      </a:pPr>
                      <a:r>
                        <a:t>TỐI ƯU TUYỆT ĐỐI (Heuristic Admissible)</a:t>
                      </a:r>
                    </a:p>
                  </a:txBody>
                  <a:tcPr>
                    <a:solidFill>
                      <a:srgbClr val="F5F7FA"/>
                    </a:solidFill>
                  </a:tcPr>
                </a:tc>
                <a:tc>
                  <a:txBody>
                    <a:bodyPr/>
                    <a:lstStyle/>
                    <a:p>
                      <a:pPr algn="ctr">
                        <a:defRPr sz="1000">
                          <a:solidFill>
                            <a:srgbClr val="0F172A"/>
                          </a:solidFill>
                          <a:latin typeface="Segoe UI"/>
                        </a:defRPr>
                      </a:pPr>
                      <a:r>
                        <a:t>Chỉ có BFS và A* luôn cam kết tìm ra đường đi ngắn nhất.</a:t>
                      </a:r>
                    </a:p>
                  </a:txBody>
                  <a:tcPr>
                    <a:solidFill>
                      <a:srgbClr val="F5F7FA"/>
                    </a:solidFill>
                  </a:tcPr>
                </a:tc>
              </a:tr>
              <a:tr h="896112">
                <a:tc>
                  <a:txBody>
                    <a:bodyPr/>
                    <a:lstStyle/>
                    <a:p>
                      <a:pPr algn="l">
                        <a:defRPr sz="1000">
                          <a:solidFill>
                            <a:srgbClr val="0F172A"/>
                          </a:solidFill>
                          <a:latin typeface="Segoe UI"/>
                        </a:defRPr>
                      </a:pPr>
                      <a:r>
                        <a:t>3. Độ Phức Tạp Thời Gian</a:t>
                      </a:r>
                    </a:p>
                  </a:txBody>
                  <a:tcPr>
                    <a:solidFill>
                      <a:srgbClr val="FFFFFF"/>
                    </a:solidFill>
                  </a:tcPr>
                </a:tc>
                <a:tc>
                  <a:txBody>
                    <a:bodyPr/>
                    <a:lstStyle/>
                    <a:p>
                      <a:pPr algn="l">
                        <a:defRPr sz="1000">
                          <a:solidFill>
                            <a:srgbClr val="0F172A"/>
                          </a:solidFill>
                          <a:latin typeface="Segoe UI"/>
                        </a:defRPr>
                      </a:pPr>
                      <a:r>
                        <a:t>O(b^d) — Tăng cấp số nhân</a:t>
                      </a:r>
                    </a:p>
                  </a:txBody>
                  <a:tcPr>
                    <a:solidFill>
                      <a:srgbClr val="FFFFFF"/>
                    </a:solidFill>
                  </a:tcPr>
                </a:tc>
                <a:tc>
                  <a:txBody>
                    <a:bodyPr/>
                    <a:lstStyle/>
                    <a:p>
                      <a:pPr algn="ctr">
                        <a:defRPr sz="1000">
                          <a:solidFill>
                            <a:srgbClr val="0F172A"/>
                          </a:solidFill>
                          <a:latin typeface="Segoe UI"/>
                        </a:defRPr>
                      </a:pPr>
                      <a:r>
                        <a:t>O(b^m) — Biến thiên theo nhánh</a:t>
                      </a:r>
                    </a:p>
                  </a:txBody>
                  <a:tcPr>
                    <a:solidFill>
                      <a:srgbClr val="FFFFFF"/>
                    </a:solidFill>
                  </a:tcPr>
                </a:tc>
                <a:tc>
                  <a:txBody>
                    <a:bodyPr/>
                    <a:lstStyle/>
                    <a:p>
                      <a:pPr algn="ctr">
                        <a:defRPr sz="1000">
                          <a:solidFill>
                            <a:srgbClr val="0F172A"/>
                          </a:solidFill>
                          <a:latin typeface="Segoe UI"/>
                        </a:defRPr>
                      </a:pPr>
                      <a:r>
                        <a:t>O(b^d) nhưng cắt tỉa cực mạnh</a:t>
                      </a:r>
                    </a:p>
                  </a:txBody>
                  <a:tcPr>
                    <a:solidFill>
                      <a:srgbClr val="FFFFFF"/>
                    </a:solidFill>
                  </a:tcPr>
                </a:tc>
                <a:tc>
                  <a:txBody>
                    <a:bodyPr/>
                    <a:lstStyle/>
                    <a:p>
                      <a:pPr algn="ctr">
                        <a:defRPr sz="1000">
                          <a:solidFill>
                            <a:srgbClr val="0F172A"/>
                          </a:solidFill>
                          <a:latin typeface="Segoe UI"/>
                        </a:defRPr>
                      </a:pPr>
                      <a:r>
                        <a:t>A* nhanh nhất ở không gian mở nhờ Heuristic định hướng.</a:t>
                      </a:r>
                    </a:p>
                  </a:txBody>
                  <a:tcPr>
                    <a:solidFill>
                      <a:srgbClr val="FFFFFF"/>
                    </a:solidFill>
                  </a:tcPr>
                </a:tc>
              </a:tr>
              <a:tr h="896112">
                <a:tc>
                  <a:txBody>
                    <a:bodyPr/>
                    <a:lstStyle/>
                    <a:p>
                      <a:pPr algn="l">
                        <a:defRPr sz="1000">
                          <a:solidFill>
                            <a:srgbClr val="0F172A"/>
                          </a:solidFill>
                          <a:latin typeface="Segoe UI"/>
                        </a:defRPr>
                      </a:pPr>
                      <a:r>
                        <a:t>4. Độ Phức Tạp Không Gian</a:t>
                      </a:r>
                    </a:p>
                  </a:txBody>
                  <a:tcPr>
                    <a:solidFill>
                      <a:srgbClr val="F5F7FA"/>
                    </a:solidFill>
                  </a:tcPr>
                </a:tc>
                <a:tc>
                  <a:txBody>
                    <a:bodyPr/>
                    <a:lstStyle/>
                    <a:p>
                      <a:pPr algn="l">
                        <a:defRPr sz="1000">
                          <a:solidFill>
                            <a:srgbClr val="0F172A"/>
                          </a:solidFill>
                          <a:latin typeface="Segoe UI"/>
                        </a:defRPr>
                      </a:pPr>
                      <a:r>
                        <a:t>O(b^d) — Cực kỳ tốn RAM</a:t>
                      </a:r>
                    </a:p>
                  </a:txBody>
                  <a:tcPr>
                    <a:solidFill>
                      <a:srgbClr val="F5F7FA"/>
                    </a:solidFill>
                  </a:tcPr>
                </a:tc>
                <a:tc>
                  <a:txBody>
                    <a:bodyPr/>
                    <a:lstStyle/>
                    <a:p>
                      <a:pPr algn="ctr">
                        <a:defRPr sz="1000">
                          <a:solidFill>
                            <a:srgbClr val="0F172A"/>
                          </a:solidFill>
                          <a:latin typeface="Segoe UI"/>
                        </a:defRPr>
                      </a:pPr>
                      <a:r>
                        <a:t>O(b · m) — Rất tiết kiệm</a:t>
                      </a:r>
                    </a:p>
                  </a:txBody>
                  <a:tcPr>
                    <a:solidFill>
                      <a:srgbClr val="F5F7FA"/>
                    </a:solidFill>
                  </a:tcPr>
                </a:tc>
                <a:tc>
                  <a:txBody>
                    <a:bodyPr/>
                    <a:lstStyle/>
                    <a:p>
                      <a:pPr algn="ctr">
                        <a:defRPr sz="1000">
                          <a:solidFill>
                            <a:srgbClr val="0F172A"/>
                          </a:solidFill>
                          <a:latin typeface="Segoe UI"/>
                        </a:defRPr>
                      </a:pPr>
                      <a:r>
                        <a:t>Trung gian (Định hướng tốt)</a:t>
                      </a:r>
                    </a:p>
                  </a:txBody>
                  <a:tcPr>
                    <a:solidFill>
                      <a:srgbClr val="F5F7FA"/>
                    </a:solidFill>
                  </a:tcPr>
                </a:tc>
                <a:tc>
                  <a:txBody>
                    <a:bodyPr/>
                    <a:lstStyle/>
                    <a:p>
                      <a:pPr algn="ctr">
                        <a:defRPr sz="1000">
                          <a:solidFill>
                            <a:srgbClr val="0F172A"/>
                          </a:solidFill>
                          <a:latin typeface="Segoe UI"/>
                        </a:defRPr>
                      </a:pPr>
                      <a:r>
                        <a:t>DFS tiết kiệm RAM nhất; A* cân bằng tối ưu giữa thời gian và bộ nhớ.</a:t>
                      </a:r>
                    </a:p>
                  </a:txBody>
                  <a:tcPr>
                    <a:solidFill>
                      <a:srgbClr val="F5F7FA"/>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698480" cy="256032"/>
          </a:xfrm>
          <a:prstGeom prst="rect">
            <a:avLst/>
          </a:prstGeom>
          <a:noFill/>
        </p:spPr>
        <p:txBody>
          <a:bodyPr wrap="square" lIns="0" tIns="0" rIns="0" bIns="0">
            <a:spAutoFit/>
          </a:bodyPr>
          <a:lstStyle/>
          <a:p>
            <a:pPr>
              <a:defRPr sz="1000" b="1">
                <a:solidFill>
                  <a:srgbClr val="2563EB"/>
                </a:solidFill>
                <a:latin typeface="Segoe UI"/>
              </a:defRPr>
            </a:pPr>
            <a:r>
              <a:t>PHẦN 4 — DEMO HỆ THỐNG</a:t>
            </a:r>
          </a:p>
        </p:txBody>
      </p:sp>
      <p:sp>
        <p:nvSpPr>
          <p:cNvPr id="3" name="TextBox 2"/>
          <p:cNvSpPr txBox="1"/>
          <p:nvPr/>
        </p:nvSpPr>
        <p:spPr>
          <a:xfrm>
            <a:off x="731520" y="621792"/>
            <a:ext cx="10698480" cy="502920"/>
          </a:xfrm>
          <a:prstGeom prst="rect">
            <a:avLst/>
          </a:prstGeom>
          <a:noFill/>
        </p:spPr>
        <p:txBody>
          <a:bodyPr wrap="square" lIns="0" tIns="0" rIns="0" bIns="0">
            <a:spAutoFit/>
          </a:bodyPr>
          <a:lstStyle/>
          <a:p>
            <a:pPr>
              <a:defRPr sz="2100" b="1">
                <a:solidFill>
                  <a:srgbClr val="1E3A8A"/>
                </a:solidFill>
                <a:latin typeface="Segoe UI"/>
              </a:defRPr>
            </a:pPr>
            <a:r>
              <a:t>Kịch Bản Trình Diễn Mô Phỏng Trực Tiếp Trước Hội Đồng</a:t>
            </a:r>
          </a:p>
        </p:txBody>
      </p:sp>
      <p:sp>
        <p:nvSpPr>
          <p:cNvPr id="4" name="Rectangle 3"/>
          <p:cNvSpPr/>
          <p:nvPr/>
        </p:nvSpPr>
        <p:spPr>
          <a:xfrm>
            <a:off x="731520" y="1207008"/>
            <a:ext cx="1072865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280160"/>
            <a:ext cx="10698480" cy="274320"/>
          </a:xfrm>
          <a:prstGeom prst="rect">
            <a:avLst/>
          </a:prstGeom>
          <a:noFill/>
        </p:spPr>
        <p:txBody>
          <a:bodyPr wrap="square" lIns="0" tIns="0" rIns="0" bIns="0">
            <a:spAutoFit/>
          </a:bodyPr>
          <a:lstStyle/>
          <a:p>
            <a:pPr>
              <a:defRPr sz="1100" i="1">
                <a:solidFill>
                  <a:srgbClr val="475569"/>
                </a:solidFill>
                <a:latin typeface="Segoe UI"/>
              </a:defRPr>
            </a:pPr>
            <a:r>
              <a:t>Quy trình 4 bước demo tương tác chứng minh trọn vẹn mọi tính năng đã công bố</a:t>
            </a:r>
          </a:p>
        </p:txBody>
      </p:sp>
      <p:sp>
        <p:nvSpPr>
          <p:cNvPr id="6" name="TextBox 5"/>
          <p:cNvSpPr txBox="1"/>
          <p:nvPr/>
        </p:nvSpPr>
        <p:spPr>
          <a:xfrm>
            <a:off x="731520" y="1645920"/>
            <a:ext cx="10698480" cy="4572000"/>
          </a:xfrm>
          <a:prstGeom prst="rect">
            <a:avLst/>
          </a:prstGeom>
          <a:noFill/>
        </p:spPr>
        <p:txBody>
          <a:bodyPr wrap="square">
            <a:spAutoFit/>
          </a:bodyPr>
          <a:lstStyle/>
          <a:p>
            <a:pPr>
              <a:defRPr sz="1300" b="1">
                <a:solidFill>
                  <a:srgbClr val="1E3A8A"/>
                </a:solidFill>
                <a:latin typeface="Segoe UI"/>
              </a:defRPr>
            </a:pPr>
            <a:r>
              <a:t>BƯỚC 1: KHỞI ĐỘNG VÀ CHẠY SONG SONG</a:t>
            </a:r>
          </a:p>
          <a:p>
            <a:pPr>
              <a:spcBef>
                <a:spcPts val="300"/>
              </a:spcBef>
              <a:defRPr sz="1150">
                <a:solidFill>
                  <a:srgbClr val="475569"/>
                </a:solidFill>
                <a:latin typeface="Segoe UI"/>
              </a:defRPr>
            </a:pPr>
            <a:r>
              <a:t>Mở phần mềm trên lưới chuẩn 15×15. Bấm 'Chạy song song' để Hội đồng quan sát trực tiếp 3 cơ chế lan truyền duyệt diễn ra cùng lúc trên 3 canvas độc lập ở tốc độ 60 FPS.</a:t>
            </a:r>
          </a:p>
          <a:p>
            <a:pPr>
              <a:spcBef>
                <a:spcPts val="1400"/>
              </a:spcBef>
              <a:defRPr sz="1300" b="1">
                <a:solidFill>
                  <a:srgbClr val="1E3A8A"/>
                </a:solidFill>
                <a:latin typeface="Segoe UI"/>
              </a:defRPr>
            </a:pPr>
            <a:r>
              <a:t>BƯỚC 2: CHỨNG MINH ƯU THẾ HEURISTIC A*</a:t>
            </a:r>
          </a:p>
          <a:p>
            <a:pPr>
              <a:spcBef>
                <a:spcPts val="300"/>
              </a:spcBef>
              <a:defRPr sz="1150">
                <a:solidFill>
                  <a:srgbClr val="475569"/>
                </a:solidFill>
                <a:latin typeface="Segoe UI"/>
              </a:defRPr>
            </a:pPr>
            <a:r>
              <a:t>Chuyển sang mẫu bản đồ 'Bãi vật cản ngẫu nhiên (21×21)'. Nhấn 'Giải tức thì' để đối chiếu: A* chỉ duyệt 55 ô so với BFS 290 ô (tiết kiệm hơn 81% số ô duyệt mà vẫn cùng đạt đường tối ưu).</a:t>
            </a:r>
          </a:p>
          <a:p>
            <a:pPr>
              <a:spcBef>
                <a:spcPts val="1400"/>
              </a:spcBef>
              <a:defRPr sz="1300" b="1">
                <a:solidFill>
                  <a:srgbClr val="1E3A8A"/>
                </a:solidFill>
                <a:latin typeface="Segoe UI"/>
              </a:defRPr>
            </a:pPr>
            <a:r>
              <a:t>BƯỚC 3: THỬ THÁCH XOẮN ỐC VÀ BẪY VÔ NGHIỆM</a:t>
            </a:r>
          </a:p>
          <a:p>
            <a:pPr>
              <a:spcBef>
                <a:spcPts val="300"/>
              </a:spcBef>
              <a:defRPr sz="1150">
                <a:solidFill>
                  <a:srgbClr val="475569"/>
                </a:solidFill>
                <a:latin typeface="Segoe UI"/>
              </a:defRPr>
            </a:pPr>
            <a:r>
              <a:t>Chọn bản đồ Xoắn ốc để quan sát DFS bị lừa đi 71 bước; sau đó chọn 'Bẫy không lối thoát' để kiểm chứng tính dừng an toàn của cả 3 thuật toán khi đích bị tường vây kín.</a:t>
            </a:r>
          </a:p>
          <a:p>
            <a:pPr>
              <a:spcBef>
                <a:spcPts val="1400"/>
              </a:spcBef>
              <a:defRPr sz="1300" b="1">
                <a:solidFill>
                  <a:srgbClr val="1E3A8A"/>
                </a:solidFill>
                <a:latin typeface="Segoe UI"/>
              </a:defRPr>
            </a:pPr>
            <a:r>
              <a:t>BƯỚC 4: ĐỐI CHIẾU KPI &amp; TƯƠNG TÁC BẢN ĐỒ</a:t>
            </a:r>
          </a:p>
          <a:p>
            <a:pPr>
              <a:spcBef>
                <a:spcPts val="300"/>
              </a:spcBef>
              <a:defRPr sz="1150">
                <a:solidFill>
                  <a:srgbClr val="475569"/>
                </a:solidFill>
                <a:latin typeface="Segoe UI"/>
              </a:defRPr>
            </a:pPr>
            <a:r>
              <a:t>Phân tích 3 biểu đồ cột Chart.js động và bảng số liệu KPI chi tiết; thao tác vẽ thêm tường và kéo thả Start/Goal tự do trực tiếp bằng chuột.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698480" cy="256032"/>
          </a:xfrm>
          <a:prstGeom prst="rect">
            <a:avLst/>
          </a:prstGeom>
          <a:noFill/>
        </p:spPr>
        <p:txBody>
          <a:bodyPr wrap="square" lIns="0" tIns="0" rIns="0" bIns="0">
            <a:spAutoFit/>
          </a:bodyPr>
          <a:lstStyle/>
          <a:p>
            <a:pPr>
              <a:defRPr sz="1000" b="1">
                <a:solidFill>
                  <a:srgbClr val="2563EB"/>
                </a:solidFill>
                <a:latin typeface="Segoe UI"/>
              </a:defRPr>
            </a:pPr>
            <a:r>
              <a:t>PHẦN 4 — TỔNG KẾT ĐỀ TÀI</a:t>
            </a:r>
          </a:p>
        </p:txBody>
      </p:sp>
      <p:sp>
        <p:nvSpPr>
          <p:cNvPr id="3" name="TextBox 2"/>
          <p:cNvSpPr txBox="1"/>
          <p:nvPr/>
        </p:nvSpPr>
        <p:spPr>
          <a:xfrm>
            <a:off x="731520" y="621792"/>
            <a:ext cx="10698480" cy="502920"/>
          </a:xfrm>
          <a:prstGeom prst="rect">
            <a:avLst/>
          </a:prstGeom>
          <a:noFill/>
        </p:spPr>
        <p:txBody>
          <a:bodyPr wrap="square" lIns="0" tIns="0" rIns="0" bIns="0">
            <a:spAutoFit/>
          </a:bodyPr>
          <a:lstStyle/>
          <a:p>
            <a:pPr>
              <a:defRPr sz="2100" b="1">
                <a:solidFill>
                  <a:srgbClr val="1E3A8A"/>
                </a:solidFill>
                <a:latin typeface="Segoe UI"/>
              </a:defRPr>
            </a:pPr>
            <a:r>
              <a:t>Kết Luận &amp; Hướng Phát Triển Nghiên Cứu</a:t>
            </a:r>
          </a:p>
        </p:txBody>
      </p:sp>
      <p:sp>
        <p:nvSpPr>
          <p:cNvPr id="4" name="Rectangle 3"/>
          <p:cNvSpPr/>
          <p:nvPr/>
        </p:nvSpPr>
        <p:spPr>
          <a:xfrm>
            <a:off x="731520" y="1207008"/>
            <a:ext cx="1072865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280160"/>
            <a:ext cx="10698480" cy="274320"/>
          </a:xfrm>
          <a:prstGeom prst="rect">
            <a:avLst/>
          </a:prstGeom>
          <a:noFill/>
        </p:spPr>
        <p:txBody>
          <a:bodyPr wrap="square" lIns="0" tIns="0" rIns="0" bIns="0">
            <a:spAutoFit/>
          </a:bodyPr>
          <a:lstStyle/>
          <a:p>
            <a:pPr>
              <a:defRPr sz="1100" i="1">
                <a:solidFill>
                  <a:srgbClr val="475569"/>
                </a:solidFill>
                <a:latin typeface="Segoe UI"/>
              </a:defRPr>
            </a:pPr>
            <a:r>
              <a:t>Đánh giá mức độ hoàn thành 100% mục tiêu đề tài và đề xuất các hướng mở rộng kỹ thuật</a:t>
            </a:r>
          </a:p>
        </p:txBody>
      </p:sp>
      <p:sp>
        <p:nvSpPr>
          <p:cNvPr id="6" name="TextBox 5"/>
          <p:cNvSpPr txBox="1"/>
          <p:nvPr/>
        </p:nvSpPr>
        <p:spPr>
          <a:xfrm>
            <a:off x="731520" y="1645920"/>
            <a:ext cx="5120640" cy="4572000"/>
          </a:xfrm>
          <a:prstGeom prst="rect">
            <a:avLst/>
          </a:prstGeom>
          <a:noFill/>
        </p:spPr>
        <p:txBody>
          <a:bodyPr wrap="square">
            <a:spAutoFit/>
          </a:bodyPr>
          <a:lstStyle/>
          <a:p>
            <a:pPr>
              <a:defRPr sz="1350" b="1">
                <a:solidFill>
                  <a:srgbClr val="1E3A8A"/>
                </a:solidFill>
                <a:latin typeface="Segoe UI"/>
              </a:defRPr>
            </a:pPr>
            <a:r>
              <a:t>1. KẾT QUẢ ĐẠT ĐƯỢC (100% MỤC TIÊU)</a:t>
            </a:r>
          </a:p>
          <a:p>
            <a:pPr>
              <a:spcBef>
                <a:spcPts val="1000"/>
              </a:spcBef>
            </a:pPr>
            <a:r>
              <a:rPr sz="1100" b="1">
                <a:solidFill>
                  <a:srgbClr val="0F172A"/>
                </a:solidFill>
                <a:latin typeface="Segoe UI"/>
              </a:rPr>
              <a:t>✔  Hoàn thành trọn vẹn mô phỏng: </a:t>
            </a:r>
            <a:r>
              <a:rPr sz="1100" b="0">
                <a:solidFill>
                  <a:srgbClr val="475569"/>
                </a:solidFill>
                <a:latin typeface="Segoe UI"/>
              </a:rPr>
              <a:t>Chương trình chạy song song đồng bộ 3 thuật toán 60 FPS trên nền Web Canvas 2D không bị giật lag.</a:t>
            </a:r>
          </a:p>
          <a:p>
            <a:pPr>
              <a:spcBef>
                <a:spcPts val="1000"/>
              </a:spcBef>
            </a:pPr>
            <a:r>
              <a:rPr sz="1100" b="1">
                <a:solidFill>
                  <a:srgbClr val="0F172A"/>
                </a:solidFill>
                <a:latin typeface="Segoe UI"/>
              </a:rPr>
              <a:t>✔  Làm sáng tỏ bản chất toán học AI: </a:t>
            </a:r>
            <a:r>
              <a:rPr sz="1100" b="0">
                <a:solidFill>
                  <a:srgbClr val="475569"/>
                </a:solidFill>
                <a:latin typeface="Segoe UI"/>
              </a:rPr>
              <a:t>Chứng minh thực tế vai trò của không gian trạng thái, tính Admissible của Heuristic và cấu trúc dữ liệu.</a:t>
            </a:r>
          </a:p>
          <a:p>
            <a:pPr>
              <a:spcBef>
                <a:spcPts val="1000"/>
              </a:spcBef>
            </a:pPr>
            <a:r>
              <a:rPr sz="1100" b="1">
                <a:solidFill>
                  <a:srgbClr val="0F172A"/>
                </a:solidFill>
                <a:latin typeface="Segoe UI"/>
              </a:rPr>
              <a:t>✔  Khẳng định ưu thế vượt trội của A*: </a:t>
            </a:r>
            <a:r>
              <a:rPr sz="1100" b="0">
                <a:solidFill>
                  <a:srgbClr val="475569"/>
                </a:solidFill>
                <a:latin typeface="Segoe UI"/>
              </a:rPr>
              <a:t>Số liệu thực nghiệm chứng minh A* giảm từ 50% đến hơn 81% số ô duyệt thừa so với BFS.</a:t>
            </a:r>
          </a:p>
          <a:p>
            <a:pPr>
              <a:spcBef>
                <a:spcPts val="1000"/>
              </a:spcBef>
            </a:pPr>
            <a:r>
              <a:rPr sz="1100" b="1">
                <a:solidFill>
                  <a:srgbClr val="0F172A"/>
                </a:solidFill>
                <a:latin typeface="Segoe UI"/>
              </a:rPr>
              <a:t>✔  Độ hoàn thiện sản phẩm cao: </a:t>
            </a:r>
            <a:r>
              <a:rPr sz="1100" b="0">
                <a:solidFill>
                  <a:srgbClr val="475569"/>
                </a:solidFill>
                <a:latin typeface="Segoe UI"/>
              </a:rPr>
              <a:t>Hỗ trợ vẽ tường tự do, kéo thả Start/Goal, 6 mẫu địa hình, bảng KPI và biểu đồ Chart.js trực quan.</a:t>
            </a:r>
          </a:p>
        </p:txBody>
      </p:sp>
      <p:sp>
        <p:nvSpPr>
          <p:cNvPr id="7" name="Rectangle 6"/>
          <p:cNvSpPr/>
          <p:nvPr/>
        </p:nvSpPr>
        <p:spPr>
          <a:xfrm>
            <a:off x="6126480" y="1645920"/>
            <a:ext cx="13716" cy="457200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645920"/>
            <a:ext cx="4937760" cy="4572000"/>
          </a:xfrm>
          <a:prstGeom prst="rect">
            <a:avLst/>
          </a:prstGeom>
          <a:noFill/>
        </p:spPr>
        <p:txBody>
          <a:bodyPr wrap="square">
            <a:spAutoFit/>
          </a:bodyPr>
          <a:lstStyle/>
          <a:p>
            <a:pPr>
              <a:defRPr sz="1350" b="1">
                <a:solidFill>
                  <a:srgbClr val="2563EB"/>
                </a:solidFill>
                <a:latin typeface="Segoe UI"/>
              </a:defRPr>
            </a:pPr>
            <a:r>
              <a:t>2. HƯỚNG PHÁT TRIỂN TRONG TƯƠNG LAI</a:t>
            </a:r>
          </a:p>
          <a:p>
            <a:pPr>
              <a:spcBef>
                <a:spcPts val="1000"/>
              </a:spcBef>
            </a:pPr>
            <a:r>
              <a:rPr sz="1100" b="1">
                <a:solidFill>
                  <a:srgbClr val="0F172A"/>
                </a:solidFill>
                <a:latin typeface="Segoe UI"/>
              </a:rPr>
              <a:t>⭐  Di chuyển 8 hướng (Đi chéo góc): </a:t>
            </a:r>
            <a:r>
              <a:rPr sz="1100" b="0">
                <a:solidFill>
                  <a:srgbClr val="475569"/>
                </a:solidFill>
                <a:latin typeface="Segoe UI"/>
              </a:rPr>
              <a:t>Cho phép di chuyển chéo với chi phí căn bậc hai của 2, ứng dụng hàm Heuristic Euclidean / Chebyshev.</a:t>
            </a:r>
          </a:p>
          <a:p>
            <a:pPr>
              <a:spcBef>
                <a:spcPts val="1000"/>
              </a:spcBef>
            </a:pPr>
            <a:r>
              <a:rPr sz="1100" b="1">
                <a:solidFill>
                  <a:srgbClr val="0F172A"/>
                </a:solidFill>
                <a:latin typeface="Segoe UI"/>
              </a:rPr>
              <a:t>⭐  Địa hình có trọng số (Weighted Grid): </a:t>
            </a:r>
            <a:r>
              <a:rPr sz="1100" b="0">
                <a:solidFill>
                  <a:srgbClr val="475569"/>
                </a:solidFill>
                <a:latin typeface="Segoe UI"/>
              </a:rPr>
              <a:t>Mô phỏng đầm lầy, dốc cao với chi phí biến thiên c(u, v) &gt; 1, kết hợp thuật toán Dijkstra.</a:t>
            </a:r>
          </a:p>
          <a:p>
            <a:pPr>
              <a:spcBef>
                <a:spcPts val="1000"/>
              </a:spcBef>
            </a:pPr>
            <a:r>
              <a:rPr sz="1100" b="1">
                <a:solidFill>
                  <a:srgbClr val="0F172A"/>
                </a:solidFill>
                <a:latin typeface="Segoe UI"/>
              </a:rPr>
              <a:t>⭐  Thuật toán Jump Point Search (JPS): </a:t>
            </a:r>
            <a:r>
              <a:rPr sz="1100" b="0">
                <a:solidFill>
                  <a:srgbClr val="475569"/>
                </a:solidFill>
                <a:latin typeface="Segoe UI"/>
              </a:rPr>
              <a:t>Nhảy cóc qua các nút đối xứng trên bản đồ phẳng, tăng tốc độ tìm đường A* lên gấp hàng chục lần.</a:t>
            </a:r>
          </a:p>
          <a:p>
            <a:pPr>
              <a:spcBef>
                <a:spcPts val="1000"/>
              </a:spcBef>
            </a:pPr>
            <a:r>
              <a:rPr sz="1100" b="1">
                <a:solidFill>
                  <a:srgbClr val="0F172A"/>
                </a:solidFill>
                <a:latin typeface="Segoe UI"/>
              </a:rPr>
              <a:t>⭐  Xử lý vật cản động với D* Lite: </a:t>
            </a:r>
            <a:r>
              <a:rPr sz="1100" b="0">
                <a:solidFill>
                  <a:srgbClr val="475569"/>
                </a:solidFill>
                <a:latin typeface="Segoe UI"/>
              </a:rPr>
              <a:t>Tự động tính toán lại đường đi khi có chướng ngại vật di chuyển bất ngờ, ứng dụng cho robot AGV thực tế.</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65760" cy="6858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10058400" cy="1645920"/>
          </a:xfrm>
          <a:prstGeom prst="rect">
            <a:avLst/>
          </a:prstGeom>
          <a:noFill/>
        </p:spPr>
        <p:txBody>
          <a:bodyPr wrap="square">
            <a:spAutoFit/>
          </a:bodyPr>
          <a:lstStyle/>
          <a:p>
            <a:pPr>
              <a:defRPr sz="2800" b="1">
                <a:solidFill>
                  <a:srgbClr val="1E3A8A"/>
                </a:solidFill>
                <a:latin typeface="Segoe UI"/>
              </a:defRPr>
            </a:pPr>
            <a:r>
              <a:t>CẢM ƠN THẦY VÀ CÁC BẠN ĐÃ LẮNG NGHE!</a:t>
            </a:r>
          </a:p>
          <a:p>
            <a:pPr>
              <a:spcBef>
                <a:spcPts val="400"/>
              </a:spcBef>
              <a:defRPr sz="1300">
                <a:solidFill>
                  <a:srgbClr val="2563EB"/>
                </a:solidFill>
                <a:latin typeface="Segoe UI"/>
              </a:defRPr>
            </a:pPr>
            <a:r>
              <a:t>BÁO CÁO KẾT QUẢ BÀI TẬP LỚN MÔN TRÍ TUỆ NHÂN TẠO — NHÓM 10</a:t>
            </a:r>
          </a:p>
          <a:p>
            <a:pPr>
              <a:spcBef>
                <a:spcPts val="1000"/>
              </a:spcBef>
              <a:defRPr sz="1200">
                <a:solidFill>
                  <a:srgbClr val="475569"/>
                </a:solidFill>
                <a:latin typeface="Segoe UI"/>
              </a:defRPr>
            </a:pPr>
            <a:r>
              <a:t>Nhóm xin chân thành cảm ơn ThS. Trần Xuân Thanh đã tận tình giảng dạy, hướng dẫn và định hướng trong suốt quá trình hoàn thiện đề tài.</a:t>
            </a:r>
          </a:p>
        </p:txBody>
      </p:sp>
      <p:sp>
        <p:nvSpPr>
          <p:cNvPr id="4" name="Rectangle 3"/>
          <p:cNvSpPr/>
          <p:nvPr/>
        </p:nvSpPr>
        <p:spPr>
          <a:xfrm>
            <a:off x="1097280" y="2606040"/>
            <a:ext cx="9601200"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2788920"/>
            <a:ext cx="9601200" cy="3840480"/>
          </a:xfrm>
          <a:prstGeom prst="rect">
            <a:avLst/>
          </a:prstGeom>
          <a:noFill/>
        </p:spPr>
        <p:txBody>
          <a:bodyPr wrap="square">
            <a:spAutoFit/>
          </a:bodyPr>
          <a:lstStyle/>
          <a:p>
            <a:pPr>
              <a:defRPr sz="1700" b="1">
                <a:solidFill>
                  <a:srgbClr val="1E3A8A"/>
                </a:solidFill>
                <a:latin typeface="Segoe UI"/>
              </a:defRPr>
            </a:pPr>
            <a:r>
              <a:t>PHIÊN HỎI ĐÁP &amp; PHẢN BIỆN (Q&amp;A)</a:t>
            </a:r>
          </a:p>
          <a:p>
            <a:pPr>
              <a:spcBef>
                <a:spcPts val="800"/>
              </a:spcBef>
            </a:pPr>
            <a:r>
              <a:rPr b="1" sz="1100">
                <a:solidFill>
                  <a:srgbClr val="0F172A"/>
                </a:solidFill>
              </a:rPr>
              <a:t>Câu 1: Tại sao BFS luôn tìm được đường ngắn nhất còn DFS thì không?  ➔  </a:t>
            </a:r>
            <a:r>
              <a:rPr b="0" sz="1050">
                <a:solidFill>
                  <a:srgbClr val="475569"/>
                </a:solidFill>
              </a:rPr>
              <a:t>BFS duyệt theo từng tầng khoảng cách: nút cách k bước luôn duyệt trước nút cách k+1 bước, nên khi chạm tới đích lần đầu tiên thì đó chắc chắn là đường ngắn nhất. DFS đâm sâu theo một nhánh đầu tiên gặp được nên dễ bị cuốn vào đường vòng quanh co.</a:t>
            </a:r>
          </a:p>
          <a:p>
            <a:pPr>
              <a:spcBef>
                <a:spcPts val="800"/>
              </a:spcBef>
            </a:pPr>
            <a:r>
              <a:rPr b="1" sz="1100">
                <a:solidFill>
                  <a:srgbClr val="0F172A"/>
                </a:solidFill>
              </a:rPr>
              <a:t>Câu 2: Hàm Heuristic của A* cần điều kiện gì để luôn tìm được đường ngắn nhất?  ➔  </a:t>
            </a:r>
            <a:r>
              <a:rPr b="0" sz="1050">
                <a:solidFill>
                  <a:srgbClr val="475569"/>
                </a:solidFill>
              </a:rPr>
              <a:t>Phải thỏa mãn tính chấp nhận được (Admissible): h(n) ≤ h*(n) (không bao giờ ước lượng cao hơn khoảng cách thực tế). Trong lưới 4 hướng đi, khoảng cách Manhattan là khoảng cách ngắn nhất có thể nên nó luôn là Admissible ⇒ A* luôn tối ưu 100%.</a:t>
            </a:r>
          </a:p>
          <a:p>
            <a:pPr>
              <a:spcBef>
                <a:spcPts val="800"/>
              </a:spcBef>
            </a:pPr>
            <a:r>
              <a:rPr b="1" sz="1100">
                <a:solidFill>
                  <a:srgbClr val="0F172A"/>
                </a:solidFill>
              </a:rPr>
              <a:t>Câu 3: Điểm xử lý tối ưu thông minh trong Min-Heap của nhóm là gì?  ➔  </a:t>
            </a:r>
            <a:r>
              <a:rPr b="0" sz="1050">
                <a:solidFill>
                  <a:srgbClr val="475569"/>
                </a:solidFill>
              </a:rPr>
              <a:t>Kỹ thuật Tie-breaking: Khi hai nút có cùng giá trị f(n), code ưu tiên nút có h(n) nhỏ hơn (gần đích hơn), giúp A* tập trung chùm tia đâm thẳng về đích, không bị phân tán sang hai bên.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